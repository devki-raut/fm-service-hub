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6"/>
    <p:sldMasterId id="2147483673"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Lst>
  <p:sldSz cy="5143500" cx="9144000"/>
  <p:notesSz cx="6858000" cy="9144000"/>
  <p:embeddedFontLst>
    <p:embeddedFont>
      <p:font typeface="Lora"/>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95855B7-B054-450F-BC05-C7F7D6753ABD}">
  <a:tblStyle styleId="{495855B7-B054-450F-BC05-C7F7D6753ABD}"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AFE1335D-1600-45E0-9A7A-D71F691BB131}" styleName="Table_1">
    <a:wholeTbl>
      <a:tcTxStyle b="off" i="off">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5" Type="http://schemas.openxmlformats.org/officeDocument/2006/relationships/commentAuthors" Target="commentAuthors.xml"/><Relationship Id="rId6" Type="http://schemas.openxmlformats.org/officeDocument/2006/relationships/slideMaster" Target="slideMasters/slideMaster1.xml"/><Relationship Id="rId29" Type="http://schemas.openxmlformats.org/officeDocument/2006/relationships/slide" Target="slides/slide21.xml"/><Relationship Id="rId7" Type="http://schemas.openxmlformats.org/officeDocument/2006/relationships/slideMaster" Target="slideMasters/slideMaster2.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11" Type="http://schemas.openxmlformats.org/officeDocument/2006/relationships/slide" Target="slides/slide3.xml"/><Relationship Id="rId33" Type="http://schemas.openxmlformats.org/officeDocument/2006/relationships/slide" Target="slides/slide25.xml"/><Relationship Id="rId10" Type="http://schemas.openxmlformats.org/officeDocument/2006/relationships/slide" Target="slides/slide2.xml"/><Relationship Id="rId32" Type="http://schemas.openxmlformats.org/officeDocument/2006/relationships/slide" Target="slides/slide24.xml"/><Relationship Id="rId13" Type="http://schemas.openxmlformats.org/officeDocument/2006/relationships/slide" Target="slides/slide5.xml"/><Relationship Id="rId35" Type="http://schemas.openxmlformats.org/officeDocument/2006/relationships/slide" Target="slides/slide27.xml"/><Relationship Id="rId12" Type="http://schemas.openxmlformats.org/officeDocument/2006/relationships/slide" Target="slides/slide4.xml"/><Relationship Id="rId34" Type="http://schemas.openxmlformats.org/officeDocument/2006/relationships/slide" Target="slides/slide26.xml"/><Relationship Id="rId15" Type="http://schemas.openxmlformats.org/officeDocument/2006/relationships/slide" Target="slides/slide7.xml"/><Relationship Id="rId37" Type="http://schemas.openxmlformats.org/officeDocument/2006/relationships/font" Target="fonts/Lora-bold.fntdata"/><Relationship Id="rId14" Type="http://schemas.openxmlformats.org/officeDocument/2006/relationships/slide" Target="slides/slide6.xml"/><Relationship Id="rId36" Type="http://schemas.openxmlformats.org/officeDocument/2006/relationships/font" Target="fonts/Lora-regular.fntdata"/><Relationship Id="rId17" Type="http://schemas.openxmlformats.org/officeDocument/2006/relationships/slide" Target="slides/slide9.xml"/><Relationship Id="rId39" Type="http://schemas.openxmlformats.org/officeDocument/2006/relationships/font" Target="fonts/Lora-boldItalic.fntdata"/><Relationship Id="rId16" Type="http://schemas.openxmlformats.org/officeDocument/2006/relationships/slide" Target="slides/slide8.xml"/><Relationship Id="rId38" Type="http://schemas.openxmlformats.org/officeDocument/2006/relationships/font" Target="fonts/Lora-italic.fntdata"/><Relationship Id="rId19" Type="http://schemas.openxmlformats.org/officeDocument/2006/relationships/slide" Target="slides/slide11.xml"/><Relationship Id="rId18" Type="http://schemas.openxmlformats.org/officeDocument/2006/relationships/slide" Target="slides/slide10.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05-07T11:06:25.280">
    <p:pos x="6000" y="0"/>
    <p:text>-Sathe Amol</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9" name="Google Shape;13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7" name="Google Shape;147;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p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7" name="Google Shape;157;p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5" name="Google Shape;185;p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f17213a929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g3f17213a929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 name="Google Shape;240;p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p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9" name="Google Shape;259;p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 name="Google Shape;266;p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7" name="Google Shape;267;p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 name="Google Shape;280;p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 name="Google Shape;292;p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3" name="Google Shape;293;p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p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p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9" name="Google Shape;309;p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6" name="Google Shape;316;p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7" name="Google Shape;317;p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p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4" name="Google Shape;324;p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p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 name="Google Shape;337;p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8" name="Google Shape;338;p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 name="Google Shape;344;p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5" name="Google Shape;345;p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1" name="Google Shape;351;p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2" name="Google Shape;352;p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8" name="Google Shape;358;p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9" name="Google Shape;359;p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 name="Google Shape;366;p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7" name="Google Shape;367;p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4" name="Google Shape;374;p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5" name="Google Shape;375;p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2" name="Google Shape;382;p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3" name="Google Shape;383;p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685800" y="1597819"/>
            <a:ext cx="7772400" cy="11025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 type="subTitle"/>
          </p:nvPr>
        </p:nvSpPr>
        <p:spPr>
          <a:xfrm>
            <a:off x="1371600" y="2914650"/>
            <a:ext cx="6400800" cy="1314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2"/>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7" name="Shape 27"/>
        <p:cNvGrpSpPr/>
        <p:nvPr/>
      </p:nvGrpSpPr>
      <p:grpSpPr>
        <a:xfrm>
          <a:off x="0" y="0"/>
          <a:ext cx="0" cy="0"/>
          <a:chOff x="0" y="0"/>
          <a:chExt cx="0" cy="0"/>
        </a:xfrm>
      </p:grpSpPr>
      <p:sp>
        <p:nvSpPr>
          <p:cNvPr id="28" name="Google Shape;28;p4"/>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 type="body"/>
          </p:nvPr>
        </p:nvSpPr>
        <p:spPr>
          <a:xfrm>
            <a:off x="457200" y="1151335"/>
            <a:ext cx="4040100" cy="4797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30" name="Google Shape;30;p4"/>
          <p:cNvSpPr txBox="1"/>
          <p:nvPr>
            <p:ph idx="2" type="body"/>
          </p:nvPr>
        </p:nvSpPr>
        <p:spPr>
          <a:xfrm>
            <a:off x="457200" y="1631156"/>
            <a:ext cx="4040100" cy="29634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31" name="Google Shape;31;p4"/>
          <p:cNvSpPr txBox="1"/>
          <p:nvPr>
            <p:ph idx="3" type="body"/>
          </p:nvPr>
        </p:nvSpPr>
        <p:spPr>
          <a:xfrm>
            <a:off x="4645025" y="1151335"/>
            <a:ext cx="4041900" cy="4797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32" name="Google Shape;32;p4"/>
          <p:cNvSpPr txBox="1"/>
          <p:nvPr>
            <p:ph idx="4" type="body"/>
          </p:nvPr>
        </p:nvSpPr>
        <p:spPr>
          <a:xfrm>
            <a:off x="4645025" y="1631156"/>
            <a:ext cx="4041900" cy="29634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33" name="Google Shape;33;p4"/>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4"/>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4"/>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6" name="Shape 36"/>
        <p:cNvGrpSpPr/>
        <p:nvPr/>
      </p:nvGrpSpPr>
      <p:grpSpPr>
        <a:xfrm>
          <a:off x="0" y="0"/>
          <a:ext cx="0" cy="0"/>
          <a:chOff x="0" y="0"/>
          <a:chExt cx="0" cy="0"/>
        </a:xfrm>
      </p:grpSpPr>
      <p:sp>
        <p:nvSpPr>
          <p:cNvPr id="37" name="Google Shape;37;p5"/>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p:cSld name="Basic">
    <p:spTree>
      <p:nvGrpSpPr>
        <p:cNvPr id="40" name="Shape 40"/>
        <p:cNvGrpSpPr/>
        <p:nvPr/>
      </p:nvGrpSpPr>
      <p:grpSpPr>
        <a:xfrm>
          <a:off x="0" y="0"/>
          <a:ext cx="0" cy="0"/>
          <a:chOff x="0" y="0"/>
          <a:chExt cx="0" cy="0"/>
        </a:xfrm>
      </p:grpSpPr>
      <p:sp>
        <p:nvSpPr>
          <p:cNvPr id="41" name="Google Shape;41;p6"/>
          <p:cNvSpPr txBox="1"/>
          <p:nvPr>
            <p:ph type="title"/>
          </p:nvPr>
        </p:nvSpPr>
        <p:spPr>
          <a:xfrm>
            <a:off x="252046" y="276225"/>
            <a:ext cx="7177800" cy="3315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43" name="Google Shape;43;p6"/>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6"/>
          <p:cNvSpPr txBox="1"/>
          <p:nvPr>
            <p:ph idx="1" type="body"/>
          </p:nvPr>
        </p:nvSpPr>
        <p:spPr>
          <a:xfrm>
            <a:off x="252046" y="1229448"/>
            <a:ext cx="8638500" cy="423900"/>
          </a:xfrm>
          <a:prstGeom prst="rect">
            <a:avLst/>
          </a:prstGeom>
          <a:noFill/>
          <a:ln>
            <a:noFill/>
          </a:ln>
        </p:spPr>
        <p:txBody>
          <a:bodyPr anchorCtr="0" anchor="t" bIns="36000" lIns="0" spcFirstLastPara="1" rIns="0" wrap="square" tIns="36000">
            <a:sp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cxnSp>
        <p:nvCxnSpPr>
          <p:cNvPr id="45" name="Google Shape;45;p6"/>
          <p:cNvCxnSpPr/>
          <p:nvPr/>
        </p:nvCxnSpPr>
        <p:spPr>
          <a:xfrm>
            <a:off x="252046" y="276225"/>
            <a:ext cx="8640000" cy="0"/>
          </a:xfrm>
          <a:prstGeom prst="straightConnector1">
            <a:avLst/>
          </a:prstGeom>
          <a:noFill/>
          <a:ln cap="flat" cmpd="sng" w="9525">
            <a:solidFill>
              <a:schemeClr val="dk1"/>
            </a:solidFill>
            <a:prstDash val="solid"/>
            <a:round/>
            <a:headEnd len="sm" w="sm" type="none"/>
            <a:tailEnd len="sm" w="sm" type="none"/>
          </a:ln>
        </p:spPr>
      </p:cxnSp>
      <p:cxnSp>
        <p:nvCxnSpPr>
          <p:cNvPr id="46" name="Google Shape;46;p6"/>
          <p:cNvCxnSpPr/>
          <p:nvPr/>
        </p:nvCxnSpPr>
        <p:spPr>
          <a:xfrm>
            <a:off x="250442" y="1085850"/>
            <a:ext cx="8640000" cy="0"/>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and Content">
  <p:cSld name="3_Title and Content">
    <p:spTree>
      <p:nvGrpSpPr>
        <p:cNvPr id="47" name="Shape 47"/>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8" name="Shape 48"/>
        <p:cNvGrpSpPr/>
        <p:nvPr/>
      </p:nvGrpSpPr>
      <p:grpSpPr>
        <a:xfrm>
          <a:off x="0" y="0"/>
          <a:ext cx="0" cy="0"/>
          <a:chOff x="0" y="0"/>
          <a:chExt cx="0" cy="0"/>
        </a:xfrm>
      </p:grpSpPr>
      <p:sp>
        <p:nvSpPr>
          <p:cNvPr id="49" name="Google Shape;49;p8"/>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8"/>
          <p:cNvSpPr txBox="1"/>
          <p:nvPr>
            <p:ph idx="1" type="body"/>
          </p:nvPr>
        </p:nvSpPr>
        <p:spPr>
          <a:xfrm>
            <a:off x="457200" y="1200150"/>
            <a:ext cx="4038600" cy="33945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51" name="Google Shape;51;p8"/>
          <p:cNvSpPr txBox="1"/>
          <p:nvPr>
            <p:ph idx="2" type="body"/>
          </p:nvPr>
        </p:nvSpPr>
        <p:spPr>
          <a:xfrm>
            <a:off x="4648200" y="1200150"/>
            <a:ext cx="4038600" cy="33945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52" name="Google Shape;52;p8"/>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8"/>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5" name="Shape 55"/>
        <p:cNvGrpSpPr/>
        <p:nvPr/>
      </p:nvGrpSpPr>
      <p:grpSpPr>
        <a:xfrm>
          <a:off x="0" y="0"/>
          <a:ext cx="0" cy="0"/>
          <a:chOff x="0" y="0"/>
          <a:chExt cx="0" cy="0"/>
        </a:xfrm>
      </p:grpSpPr>
      <p:sp>
        <p:nvSpPr>
          <p:cNvPr id="56" name="Google Shape;56;p9"/>
          <p:cNvSpPr txBox="1"/>
          <p:nvPr>
            <p:ph type="title"/>
          </p:nvPr>
        </p:nvSpPr>
        <p:spPr>
          <a:xfrm>
            <a:off x="722313" y="3305175"/>
            <a:ext cx="7772400" cy="10215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9"/>
          <p:cNvSpPr txBox="1"/>
          <p:nvPr>
            <p:ph idx="1" type="body"/>
          </p:nvPr>
        </p:nvSpPr>
        <p:spPr>
          <a:xfrm>
            <a:off x="722313" y="2180035"/>
            <a:ext cx="7772400" cy="11250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58" name="Google Shape;58;p9"/>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1" name="Shape 61"/>
        <p:cNvGrpSpPr/>
        <p:nvPr/>
      </p:nvGrpSpPr>
      <p:grpSpPr>
        <a:xfrm>
          <a:off x="0" y="0"/>
          <a:ext cx="0" cy="0"/>
          <a:chOff x="0" y="0"/>
          <a:chExt cx="0" cy="0"/>
        </a:xfrm>
      </p:grpSpPr>
      <p:sp>
        <p:nvSpPr>
          <p:cNvPr id="62" name="Google Shape;62;p10"/>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0"/>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0"/>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10"/>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6" name="Shape 66"/>
        <p:cNvGrpSpPr/>
        <p:nvPr/>
      </p:nvGrpSpPr>
      <p:grpSpPr>
        <a:xfrm>
          <a:off x="0" y="0"/>
          <a:ext cx="0" cy="0"/>
          <a:chOff x="0" y="0"/>
          <a:chExt cx="0" cy="0"/>
        </a:xfrm>
      </p:grpSpPr>
      <p:sp>
        <p:nvSpPr>
          <p:cNvPr id="67" name="Google Shape;67;p11"/>
          <p:cNvSpPr txBox="1"/>
          <p:nvPr>
            <p:ph type="title"/>
          </p:nvPr>
        </p:nvSpPr>
        <p:spPr>
          <a:xfrm>
            <a:off x="457200" y="204788"/>
            <a:ext cx="3008400" cy="8715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1"/>
          <p:cNvSpPr txBox="1"/>
          <p:nvPr>
            <p:ph idx="1" type="body"/>
          </p:nvPr>
        </p:nvSpPr>
        <p:spPr>
          <a:xfrm>
            <a:off x="3575050" y="204788"/>
            <a:ext cx="5111700" cy="43899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9" name="Google Shape;69;p11"/>
          <p:cNvSpPr txBox="1"/>
          <p:nvPr>
            <p:ph idx="2" type="body"/>
          </p:nvPr>
        </p:nvSpPr>
        <p:spPr>
          <a:xfrm>
            <a:off x="457200" y="1076325"/>
            <a:ext cx="3008400" cy="35184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70" name="Google Shape;70;p11"/>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1"/>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3" name="Shape 73"/>
        <p:cNvGrpSpPr/>
        <p:nvPr/>
      </p:nvGrpSpPr>
      <p:grpSpPr>
        <a:xfrm>
          <a:off x="0" y="0"/>
          <a:ext cx="0" cy="0"/>
          <a:chOff x="0" y="0"/>
          <a:chExt cx="0" cy="0"/>
        </a:xfrm>
      </p:grpSpPr>
      <p:sp>
        <p:nvSpPr>
          <p:cNvPr id="74" name="Google Shape;74;p12"/>
          <p:cNvSpPr txBox="1"/>
          <p:nvPr>
            <p:ph type="title"/>
          </p:nvPr>
        </p:nvSpPr>
        <p:spPr>
          <a:xfrm>
            <a:off x="1792288" y="3600450"/>
            <a:ext cx="5486400" cy="4251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2"/>
          <p:cNvSpPr/>
          <p:nvPr>
            <p:ph idx="2" type="pic"/>
          </p:nvPr>
        </p:nvSpPr>
        <p:spPr>
          <a:xfrm>
            <a:off x="1792288" y="459581"/>
            <a:ext cx="5486400" cy="3086100"/>
          </a:xfrm>
          <a:prstGeom prst="rect">
            <a:avLst/>
          </a:prstGeom>
          <a:noFill/>
          <a:ln>
            <a:noFill/>
          </a:ln>
        </p:spPr>
      </p:sp>
      <p:sp>
        <p:nvSpPr>
          <p:cNvPr id="76" name="Google Shape;76;p12"/>
          <p:cNvSpPr txBox="1"/>
          <p:nvPr>
            <p:ph idx="1" type="body"/>
          </p:nvPr>
        </p:nvSpPr>
        <p:spPr>
          <a:xfrm>
            <a:off x="1792288" y="4025504"/>
            <a:ext cx="5486400" cy="6036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77" name="Google Shape;77;p12"/>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2"/>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0" name="Shape 80"/>
        <p:cNvGrpSpPr/>
        <p:nvPr/>
      </p:nvGrpSpPr>
      <p:grpSpPr>
        <a:xfrm>
          <a:off x="0" y="0"/>
          <a:ext cx="0" cy="0"/>
          <a:chOff x="0" y="0"/>
          <a:chExt cx="0" cy="0"/>
        </a:xfrm>
      </p:grpSpPr>
      <p:sp>
        <p:nvSpPr>
          <p:cNvPr id="81" name="Google Shape;81;p13"/>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3"/>
          <p:cNvSpPr txBox="1"/>
          <p:nvPr>
            <p:ph idx="1" type="body"/>
          </p:nvPr>
        </p:nvSpPr>
        <p:spPr>
          <a:xfrm rot="5400000">
            <a:off x="2874750" y="-1217400"/>
            <a:ext cx="3394500"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3" name="Google Shape;83;p1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6" name="Shape 86"/>
        <p:cNvGrpSpPr/>
        <p:nvPr/>
      </p:nvGrpSpPr>
      <p:grpSpPr>
        <a:xfrm>
          <a:off x="0" y="0"/>
          <a:ext cx="0" cy="0"/>
          <a:chOff x="0" y="0"/>
          <a:chExt cx="0" cy="0"/>
        </a:xfrm>
      </p:grpSpPr>
      <p:sp>
        <p:nvSpPr>
          <p:cNvPr id="87" name="Google Shape;87;p14"/>
          <p:cNvSpPr txBox="1"/>
          <p:nvPr>
            <p:ph type="title"/>
          </p:nvPr>
        </p:nvSpPr>
        <p:spPr>
          <a:xfrm rot="5400000">
            <a:off x="5463750" y="1371629"/>
            <a:ext cx="4388700"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4"/>
          <p:cNvSpPr txBox="1"/>
          <p:nvPr>
            <p:ph idx="1" type="body"/>
          </p:nvPr>
        </p:nvSpPr>
        <p:spPr>
          <a:xfrm rot="5400000">
            <a:off x="1272750" y="-609572"/>
            <a:ext cx="4388700"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9" name="Google Shape;89;p14"/>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4"/>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14"/>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6" name="Shape 96"/>
        <p:cNvGrpSpPr/>
        <p:nvPr/>
      </p:nvGrpSpPr>
      <p:grpSpPr>
        <a:xfrm>
          <a:off x="0" y="0"/>
          <a:ext cx="0" cy="0"/>
          <a:chOff x="0" y="0"/>
          <a:chExt cx="0" cy="0"/>
        </a:xfrm>
      </p:grpSpPr>
      <p:sp>
        <p:nvSpPr>
          <p:cNvPr id="97" name="Google Shape;97;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8" name="Google Shape;98;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99" name="Google Shape;99;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0" name="Shape 100"/>
        <p:cNvGrpSpPr/>
        <p:nvPr/>
      </p:nvGrpSpPr>
      <p:grpSpPr>
        <a:xfrm>
          <a:off x="0" y="0"/>
          <a:ext cx="0" cy="0"/>
          <a:chOff x="0" y="0"/>
          <a:chExt cx="0" cy="0"/>
        </a:xfrm>
      </p:grpSpPr>
      <p:sp>
        <p:nvSpPr>
          <p:cNvPr id="101" name="Google Shape;101;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2" name="Shape 102"/>
        <p:cNvGrpSpPr/>
        <p:nvPr/>
      </p:nvGrpSpPr>
      <p:grpSpPr>
        <a:xfrm>
          <a:off x="0" y="0"/>
          <a:ext cx="0" cy="0"/>
          <a:chOff x="0" y="0"/>
          <a:chExt cx="0" cy="0"/>
        </a:xfrm>
      </p:grpSpPr>
      <p:sp>
        <p:nvSpPr>
          <p:cNvPr id="103" name="Google Shape;103;p18"/>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04" name="Google Shape;104;p18"/>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05" name="Google Shape;105;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6" name="Shape 106"/>
        <p:cNvGrpSpPr/>
        <p:nvPr/>
      </p:nvGrpSpPr>
      <p:grpSpPr>
        <a:xfrm>
          <a:off x="0" y="0"/>
          <a:ext cx="0" cy="0"/>
          <a:chOff x="0" y="0"/>
          <a:chExt cx="0" cy="0"/>
        </a:xfrm>
      </p:grpSpPr>
      <p:sp>
        <p:nvSpPr>
          <p:cNvPr id="107" name="Google Shape;107;p1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08" name="Google Shape;108;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9" name="Shape 109"/>
        <p:cNvGrpSpPr/>
        <p:nvPr/>
      </p:nvGrpSpPr>
      <p:grpSpPr>
        <a:xfrm>
          <a:off x="0" y="0"/>
          <a:ext cx="0" cy="0"/>
          <a:chOff x="0" y="0"/>
          <a:chExt cx="0" cy="0"/>
        </a:xfrm>
      </p:grpSpPr>
      <p:sp>
        <p:nvSpPr>
          <p:cNvPr id="110" name="Google Shape;110;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1" name="Google Shape;111;p2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12" name="Google Shape;112;p2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13" name="Google Shape;113;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4" name="Shape 114"/>
        <p:cNvGrpSpPr/>
        <p:nvPr/>
      </p:nvGrpSpPr>
      <p:grpSpPr>
        <a:xfrm>
          <a:off x="0" y="0"/>
          <a:ext cx="0" cy="0"/>
          <a:chOff x="0" y="0"/>
          <a:chExt cx="0" cy="0"/>
        </a:xfrm>
      </p:grpSpPr>
      <p:sp>
        <p:nvSpPr>
          <p:cNvPr id="115" name="Google Shape;115;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6" name="Google Shape;116;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7" name="Shape 117"/>
        <p:cNvGrpSpPr/>
        <p:nvPr/>
      </p:nvGrpSpPr>
      <p:grpSpPr>
        <a:xfrm>
          <a:off x="0" y="0"/>
          <a:ext cx="0" cy="0"/>
          <a:chOff x="0" y="0"/>
          <a:chExt cx="0" cy="0"/>
        </a:xfrm>
      </p:grpSpPr>
      <p:sp>
        <p:nvSpPr>
          <p:cNvPr id="118" name="Google Shape;118;p2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19" name="Google Shape;119;p2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20" name="Google Shape;120;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1" name="Shape 121"/>
        <p:cNvGrpSpPr/>
        <p:nvPr/>
      </p:nvGrpSpPr>
      <p:grpSpPr>
        <a:xfrm>
          <a:off x="0" y="0"/>
          <a:ext cx="0" cy="0"/>
          <a:chOff x="0" y="0"/>
          <a:chExt cx="0" cy="0"/>
        </a:xfrm>
      </p:grpSpPr>
      <p:sp>
        <p:nvSpPr>
          <p:cNvPr id="122" name="Google Shape;122;p2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23" name="Google Shape;123;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4" name="Shape 124"/>
        <p:cNvGrpSpPr/>
        <p:nvPr/>
      </p:nvGrpSpPr>
      <p:grpSpPr>
        <a:xfrm>
          <a:off x="0" y="0"/>
          <a:ext cx="0" cy="0"/>
          <a:chOff x="0" y="0"/>
          <a:chExt cx="0" cy="0"/>
        </a:xfrm>
      </p:grpSpPr>
      <p:sp>
        <p:nvSpPr>
          <p:cNvPr id="125" name="Google Shape;125;p2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2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27" name="Google Shape;127;p2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28" name="Google Shape;128;p2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9" name="Google Shape;129;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0" name="Shape 130"/>
        <p:cNvGrpSpPr/>
        <p:nvPr/>
      </p:nvGrpSpPr>
      <p:grpSpPr>
        <a:xfrm>
          <a:off x="0" y="0"/>
          <a:ext cx="0" cy="0"/>
          <a:chOff x="0" y="0"/>
          <a:chExt cx="0" cy="0"/>
        </a:xfrm>
      </p:grpSpPr>
      <p:sp>
        <p:nvSpPr>
          <p:cNvPr id="131" name="Google Shape;131;p2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132" name="Google Shape;132;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3" name="Shape 133"/>
        <p:cNvGrpSpPr/>
        <p:nvPr/>
      </p:nvGrpSpPr>
      <p:grpSpPr>
        <a:xfrm>
          <a:off x="0" y="0"/>
          <a:ext cx="0" cy="0"/>
          <a:chOff x="0" y="0"/>
          <a:chExt cx="0" cy="0"/>
        </a:xfrm>
      </p:grpSpPr>
      <p:sp>
        <p:nvSpPr>
          <p:cNvPr id="134" name="Google Shape;134;p2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35" name="Google Shape;135;p2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36" name="Google Shape;136;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3.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2" Type="http://schemas.openxmlformats.org/officeDocument/2006/relationships/theme" Target="../theme/theme2.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2" name="Shape 92"/>
        <p:cNvGrpSpPr/>
        <p:nvPr/>
      </p:nvGrpSpPr>
      <p:grpSpPr>
        <a:xfrm>
          <a:off x="0" y="0"/>
          <a:ext cx="0" cy="0"/>
          <a:chOff x="0" y="0"/>
          <a:chExt cx="0" cy="0"/>
        </a:xfrm>
      </p:grpSpPr>
      <p:sp>
        <p:nvSpPr>
          <p:cNvPr id="93" name="Google Shape;93;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94" name="Google Shape;94;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95" name="Google Shape;95;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comments" Target="../comments/comment1.xml"/><Relationship Id="rId4" Type="http://schemas.openxmlformats.org/officeDocument/2006/relationships/image" Target="../media/image5.jpg"/><Relationship Id="rId5"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2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2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16.jp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10.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21.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7"/>
          <p:cNvSpPr txBox="1"/>
          <p:nvPr>
            <p:ph type="ctrTitle"/>
          </p:nvPr>
        </p:nvSpPr>
        <p:spPr>
          <a:xfrm>
            <a:off x="685800" y="807026"/>
            <a:ext cx="7772400" cy="10287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45599"/>
              </a:buClr>
              <a:buSzPts val="2880"/>
              <a:buFont typeface="Arial"/>
              <a:buNone/>
            </a:pPr>
            <a:r>
              <a:rPr b="1" lang="en-US" sz="3280">
                <a:solidFill>
                  <a:srgbClr val="245599"/>
                </a:solidFill>
                <a:latin typeface="Lora"/>
                <a:ea typeface="Lora"/>
                <a:cs typeface="Lora"/>
                <a:sym typeface="Lora"/>
              </a:rPr>
              <a:t>CX2000 On-line Continuous Effluent Monitoring System: Training</a:t>
            </a:r>
            <a:endParaRPr b="1" sz="3280">
              <a:latin typeface="Lora"/>
              <a:ea typeface="Lora"/>
              <a:cs typeface="Lora"/>
              <a:sym typeface="Lora"/>
            </a:endParaRPr>
          </a:p>
        </p:txBody>
      </p:sp>
      <p:pic>
        <p:nvPicPr>
          <p:cNvPr id="142" name="Google Shape;142;p27"/>
          <p:cNvPicPr preferRelativeResize="0"/>
          <p:nvPr/>
        </p:nvPicPr>
        <p:blipFill rotWithShape="1">
          <a:blip r:embed="rId3">
            <a:alphaModFix/>
          </a:blip>
          <a:srcRect b="0" l="0" r="0" t="0"/>
          <a:stretch/>
        </p:blipFill>
        <p:spPr>
          <a:xfrm>
            <a:off x="7114481" y="171450"/>
            <a:ext cx="1774713" cy="499575"/>
          </a:xfrm>
          <a:prstGeom prst="rect">
            <a:avLst/>
          </a:prstGeom>
          <a:noFill/>
          <a:ln>
            <a:noFill/>
          </a:ln>
        </p:spPr>
      </p:pic>
      <p:pic>
        <p:nvPicPr>
          <p:cNvPr id="143" name="Google Shape;143;p27"/>
          <p:cNvPicPr preferRelativeResize="0"/>
          <p:nvPr/>
        </p:nvPicPr>
        <p:blipFill rotWithShape="1">
          <a:blip r:embed="rId4">
            <a:alphaModFix/>
          </a:blip>
          <a:srcRect b="0" l="0" r="0" t="0"/>
          <a:stretch/>
        </p:blipFill>
        <p:spPr>
          <a:xfrm>
            <a:off x="1863037" y="1819325"/>
            <a:ext cx="5417925" cy="31717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8"/>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b="1" lang="en-US" sz="3400">
                <a:solidFill>
                  <a:srgbClr val="245599"/>
                </a:solidFill>
                <a:latin typeface="Lora"/>
                <a:ea typeface="Lora"/>
                <a:cs typeface="Lora"/>
                <a:sym typeface="Lora"/>
              </a:rPr>
              <a:t>Introduction</a:t>
            </a:r>
            <a:endParaRPr b="1" sz="3400">
              <a:solidFill>
                <a:srgbClr val="245599"/>
              </a:solidFill>
              <a:latin typeface="Lora"/>
              <a:ea typeface="Lora"/>
              <a:cs typeface="Lora"/>
              <a:sym typeface="Lora"/>
            </a:endParaRPr>
          </a:p>
        </p:txBody>
      </p:sp>
      <p:sp>
        <p:nvSpPr>
          <p:cNvPr id="150" name="Google Shape;150;p28"/>
          <p:cNvSpPr txBox="1"/>
          <p:nvPr>
            <p:ph idx="1" type="body"/>
          </p:nvPr>
        </p:nvSpPr>
        <p:spPr>
          <a:xfrm>
            <a:off x="457200" y="1200150"/>
            <a:ext cx="5690700" cy="1371600"/>
          </a:xfrm>
          <a:prstGeom prst="rect">
            <a:avLst/>
          </a:prstGeom>
          <a:noFill/>
          <a:ln>
            <a:noFill/>
          </a:ln>
        </p:spPr>
        <p:txBody>
          <a:bodyPr anchorCtr="0" anchor="t" bIns="45700" lIns="91425" spcFirstLastPara="1" rIns="91425" wrap="square" tIns="45700">
            <a:noAutofit/>
          </a:bodyPr>
          <a:lstStyle/>
          <a:p>
            <a:pPr indent="-318770" lvl="0" marL="457200" rtl="0" algn="just">
              <a:lnSpc>
                <a:spcPct val="80000"/>
              </a:lnSpc>
              <a:spcBef>
                <a:spcPts val="360"/>
              </a:spcBef>
              <a:spcAft>
                <a:spcPts val="0"/>
              </a:spcAft>
              <a:buSzPts val="1420"/>
              <a:buFont typeface="Lora"/>
              <a:buChar char="➢"/>
            </a:pPr>
            <a:r>
              <a:rPr lang="en-US" sz="2610">
                <a:latin typeface="Lora"/>
                <a:ea typeface="Lora"/>
                <a:cs typeface="Lora"/>
                <a:sym typeface="Lora"/>
              </a:rPr>
              <a:t>CX2000 is a multi-parameter on-line continuous water quality monitoring analyser</a:t>
            </a:r>
            <a:endParaRPr sz="2610">
              <a:latin typeface="Lora"/>
              <a:ea typeface="Lora"/>
              <a:cs typeface="Lora"/>
              <a:sym typeface="Lora"/>
            </a:endParaRPr>
          </a:p>
          <a:p>
            <a:pPr indent="0" lvl="0" marL="914400" rtl="0" algn="just">
              <a:lnSpc>
                <a:spcPct val="80000"/>
              </a:lnSpc>
              <a:spcBef>
                <a:spcPts val="360"/>
              </a:spcBef>
              <a:spcAft>
                <a:spcPts val="0"/>
              </a:spcAft>
              <a:buSzPts val="935"/>
              <a:buNone/>
            </a:pPr>
            <a:r>
              <a:t/>
            </a:r>
            <a:endParaRPr sz="3120"/>
          </a:p>
        </p:txBody>
      </p:sp>
      <p:graphicFrame>
        <p:nvGraphicFramePr>
          <p:cNvPr id="151" name="Google Shape;151;p28"/>
          <p:cNvGraphicFramePr/>
          <p:nvPr/>
        </p:nvGraphicFramePr>
        <p:xfrm>
          <a:off x="1025025" y="2425000"/>
          <a:ext cx="3000000" cy="3000000"/>
        </p:xfrm>
        <a:graphic>
          <a:graphicData uri="http://schemas.openxmlformats.org/drawingml/2006/table">
            <a:tbl>
              <a:tblPr>
                <a:noFill/>
                <a:tableStyleId>{495855B7-B054-450F-BC05-C7F7D6753ABD}</a:tableStyleId>
              </a:tblPr>
              <a:tblGrid>
                <a:gridCol w="2493625"/>
                <a:gridCol w="2493625"/>
              </a:tblGrid>
              <a:tr h="638075">
                <a:tc>
                  <a:txBody>
                    <a:bodyPr/>
                    <a:lstStyle/>
                    <a:p>
                      <a:pPr indent="0" lvl="0" marL="0" marR="0" rtl="0" algn="ctr">
                        <a:lnSpc>
                          <a:spcPct val="100000"/>
                        </a:lnSpc>
                        <a:spcBef>
                          <a:spcPts val="0"/>
                        </a:spcBef>
                        <a:spcAft>
                          <a:spcPts val="0"/>
                        </a:spcAft>
                        <a:buClr>
                          <a:srgbClr val="000000"/>
                        </a:buClr>
                        <a:buSzPts val="2000"/>
                        <a:buFont typeface="Arial"/>
                        <a:buNone/>
                      </a:pPr>
                      <a:r>
                        <a:rPr b="1" lang="en-US" sz="2000" u="none" cap="none" strike="noStrike">
                          <a:solidFill>
                            <a:schemeClr val="dk1"/>
                          </a:solidFill>
                          <a:latin typeface="Lora"/>
                          <a:ea typeface="Lora"/>
                          <a:cs typeface="Lora"/>
                          <a:sym typeface="Lora"/>
                        </a:rPr>
                        <a:t>Parameters</a:t>
                      </a:r>
                      <a:endParaRPr b="1" sz="2000" u="none" cap="none" strike="noStrike">
                        <a:solidFill>
                          <a:schemeClr val="dk1"/>
                        </a:solidFill>
                        <a:latin typeface="Lora"/>
                        <a:ea typeface="Lora"/>
                        <a:cs typeface="Lora"/>
                        <a:sym typeface="Lora"/>
                      </a:endParaRPr>
                    </a:p>
                  </a:txBody>
                  <a:tcPr marT="91425" marB="91425" marR="91425" marL="91425"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solidFill>
                      <a:srgbClr val="D9D9D9"/>
                    </a:solidFill>
                  </a:tcPr>
                </a:tc>
                <a:tc>
                  <a:txBody>
                    <a:bodyPr/>
                    <a:lstStyle/>
                    <a:p>
                      <a:pPr indent="0" lvl="0" marL="0" marR="0" rtl="0" algn="ctr">
                        <a:lnSpc>
                          <a:spcPct val="100000"/>
                        </a:lnSpc>
                        <a:spcBef>
                          <a:spcPts val="0"/>
                        </a:spcBef>
                        <a:spcAft>
                          <a:spcPts val="0"/>
                        </a:spcAft>
                        <a:buClr>
                          <a:srgbClr val="000000"/>
                        </a:buClr>
                        <a:buSzPts val="2000"/>
                        <a:buFont typeface="Arial"/>
                        <a:buNone/>
                      </a:pPr>
                      <a:r>
                        <a:rPr b="1" lang="en-US" sz="2000" u="none" cap="none" strike="noStrike">
                          <a:solidFill>
                            <a:schemeClr val="dk1"/>
                          </a:solidFill>
                          <a:latin typeface="Lora"/>
                          <a:ea typeface="Lora"/>
                          <a:cs typeface="Lora"/>
                          <a:sym typeface="Lora"/>
                        </a:rPr>
                        <a:t>Technology</a:t>
                      </a:r>
                      <a:endParaRPr b="1" sz="2000" u="none" cap="none" strike="noStrike">
                        <a:solidFill>
                          <a:schemeClr val="dk1"/>
                        </a:solidFill>
                        <a:latin typeface="Lora"/>
                        <a:ea typeface="Lora"/>
                        <a:cs typeface="Lora"/>
                        <a:sym typeface="Lora"/>
                      </a:endParaRPr>
                    </a:p>
                  </a:txBody>
                  <a:tcPr marT="91425" marB="91425" marR="91425" marL="91425"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solidFill>
                      <a:srgbClr val="D9D9D9"/>
                    </a:solidFill>
                  </a:tcPr>
                </a:tc>
              </a:tr>
              <a:tr h="638075">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latin typeface="Lora"/>
                          <a:ea typeface="Lora"/>
                          <a:cs typeface="Lora"/>
                          <a:sym typeface="Lora"/>
                        </a:rPr>
                        <a:t>COD, TSS</a:t>
                      </a:r>
                      <a:endParaRPr sz="1400" u="none" cap="none" strike="noStrike">
                        <a:latin typeface="Lora"/>
                        <a:ea typeface="Lora"/>
                        <a:cs typeface="Lora"/>
                        <a:sym typeface="Lora"/>
                      </a:endParaRPr>
                    </a:p>
                  </a:txBody>
                  <a:tcPr marT="91425" marB="91425" marR="91425" marL="91425" anchor="ctr">
                    <a:lnT cap="flat" cmpd="sng" w="38100">
                      <a:solidFill>
                        <a:srgbClr val="9E9E9E"/>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latin typeface="Lora"/>
                          <a:ea typeface="Lora"/>
                          <a:cs typeface="Lora"/>
                          <a:sym typeface="Lora"/>
                        </a:rPr>
                        <a:t>UV-Vis Absorption</a:t>
                      </a:r>
                      <a:endParaRPr sz="1400" u="none" cap="none" strike="noStrike">
                        <a:latin typeface="Lora"/>
                        <a:ea typeface="Lora"/>
                        <a:cs typeface="Lora"/>
                        <a:sym typeface="Lora"/>
                      </a:endParaRPr>
                    </a:p>
                  </a:txBody>
                  <a:tcPr marT="91425" marB="91425" marR="91425" marL="91425" anchor="ctr">
                    <a:lnT cap="flat" cmpd="sng" w="38100">
                      <a:solidFill>
                        <a:srgbClr val="9E9E9E"/>
                      </a:solidFill>
                      <a:prstDash val="solid"/>
                      <a:round/>
                      <a:headEnd len="sm" w="sm" type="none"/>
                      <a:tailEnd len="sm" w="sm" type="none"/>
                    </a:lnT>
                  </a:tcPr>
                </a:tc>
              </a:tr>
              <a:tr h="638075">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latin typeface="Lora"/>
                          <a:ea typeface="Lora"/>
                          <a:cs typeface="Lora"/>
                          <a:sym typeface="Lora"/>
                        </a:rPr>
                        <a:t>BOD, TOC</a:t>
                      </a:r>
                      <a:endParaRPr sz="1400" u="none" cap="none" strike="noStrike">
                        <a:latin typeface="Lora"/>
                        <a:ea typeface="Lora"/>
                        <a:cs typeface="Lora"/>
                        <a:sym typeface="Lora"/>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latin typeface="Lora"/>
                          <a:ea typeface="Lora"/>
                          <a:cs typeface="Lora"/>
                          <a:sym typeface="Lora"/>
                        </a:rPr>
                        <a:t>Calculated from COD</a:t>
                      </a:r>
                      <a:endParaRPr sz="1400" u="none" cap="none" strike="noStrike">
                        <a:latin typeface="Lora"/>
                        <a:ea typeface="Lora"/>
                        <a:cs typeface="Lora"/>
                        <a:sym typeface="Lora"/>
                      </a:endParaRPr>
                    </a:p>
                  </a:txBody>
                  <a:tcPr marT="91425" marB="91425" marR="91425" marL="91425" anchor="ctr"/>
                </a:tc>
              </a:tr>
              <a:tr h="63625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latin typeface="Lora"/>
                          <a:ea typeface="Lora"/>
                          <a:cs typeface="Lora"/>
                          <a:sym typeface="Lora"/>
                        </a:rPr>
                        <a:t>pH</a:t>
                      </a:r>
                      <a:endParaRPr sz="1400" u="none" cap="none" strike="noStrike">
                        <a:latin typeface="Lora"/>
                        <a:ea typeface="Lora"/>
                        <a:cs typeface="Lora"/>
                        <a:sym typeface="Lora"/>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latin typeface="Lora"/>
                          <a:ea typeface="Lora"/>
                          <a:cs typeface="Lora"/>
                          <a:sym typeface="Lora"/>
                        </a:rPr>
                        <a:t>Glass Electrode Method</a:t>
                      </a:r>
                      <a:endParaRPr sz="1400" u="none" cap="none" strike="noStrike">
                        <a:latin typeface="Lora"/>
                        <a:ea typeface="Lora"/>
                        <a:cs typeface="Lora"/>
                        <a:sym typeface="Lora"/>
                      </a:endParaRPr>
                    </a:p>
                  </a:txBody>
                  <a:tcPr marT="91425" marB="91425" marR="91425" marL="91425" anchor="ctr"/>
                </a:tc>
              </a:tr>
            </a:tbl>
          </a:graphicData>
        </a:graphic>
      </p:graphicFrame>
      <p:pic>
        <p:nvPicPr>
          <p:cNvPr id="152" name="Google Shape;152;p28"/>
          <p:cNvPicPr preferRelativeResize="0"/>
          <p:nvPr/>
        </p:nvPicPr>
        <p:blipFill rotWithShape="1">
          <a:blip r:embed="rId4">
            <a:alphaModFix/>
          </a:blip>
          <a:srcRect b="0" l="0" r="0" t="0"/>
          <a:stretch/>
        </p:blipFill>
        <p:spPr>
          <a:xfrm>
            <a:off x="6500750" y="1200154"/>
            <a:ext cx="1987207" cy="3775324"/>
          </a:xfrm>
          <a:prstGeom prst="rect">
            <a:avLst/>
          </a:prstGeom>
          <a:noFill/>
          <a:ln>
            <a:noFill/>
          </a:ln>
        </p:spPr>
      </p:pic>
      <p:pic>
        <p:nvPicPr>
          <p:cNvPr id="153" name="Google Shape;153;p28"/>
          <p:cNvPicPr preferRelativeResize="0"/>
          <p:nvPr/>
        </p:nvPicPr>
        <p:blipFill rotWithShape="1">
          <a:blip r:embed="rId5">
            <a:alphaModFix/>
          </a:blip>
          <a:srcRect b="0" l="0" r="0" t="0"/>
          <a:stretch/>
        </p:blipFill>
        <p:spPr>
          <a:xfrm>
            <a:off x="7114481" y="171450"/>
            <a:ext cx="1774713" cy="4995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b="1" lang="en-US" sz="3400">
                <a:solidFill>
                  <a:srgbClr val="245599"/>
                </a:solidFill>
                <a:latin typeface="Lora"/>
                <a:ea typeface="Lora"/>
                <a:cs typeface="Lora"/>
                <a:sym typeface="Lora"/>
              </a:rPr>
              <a:t>Ranges in Different Models</a:t>
            </a:r>
            <a:endParaRPr b="1" sz="3400">
              <a:latin typeface="Lora"/>
              <a:ea typeface="Lora"/>
              <a:cs typeface="Lora"/>
              <a:sym typeface="Lora"/>
            </a:endParaRPr>
          </a:p>
        </p:txBody>
      </p:sp>
      <p:pic>
        <p:nvPicPr>
          <p:cNvPr id="160" name="Google Shape;160;p29"/>
          <p:cNvPicPr preferRelativeResize="0"/>
          <p:nvPr/>
        </p:nvPicPr>
        <p:blipFill rotWithShape="1">
          <a:blip r:embed="rId3">
            <a:alphaModFix/>
          </a:blip>
          <a:srcRect b="0" l="0" r="0" t="0"/>
          <a:stretch/>
        </p:blipFill>
        <p:spPr>
          <a:xfrm>
            <a:off x="7114481" y="171450"/>
            <a:ext cx="1774713" cy="499575"/>
          </a:xfrm>
          <a:prstGeom prst="rect">
            <a:avLst/>
          </a:prstGeom>
          <a:noFill/>
          <a:ln>
            <a:noFill/>
          </a:ln>
        </p:spPr>
      </p:pic>
      <p:graphicFrame>
        <p:nvGraphicFramePr>
          <p:cNvPr id="161" name="Google Shape;161;p29"/>
          <p:cNvGraphicFramePr/>
          <p:nvPr/>
        </p:nvGraphicFramePr>
        <p:xfrm>
          <a:off x="467075" y="1149550"/>
          <a:ext cx="3000000" cy="3000000"/>
        </p:xfrm>
        <a:graphic>
          <a:graphicData uri="http://schemas.openxmlformats.org/drawingml/2006/table">
            <a:tbl>
              <a:tblPr bandCol="1" bandRow="1">
                <a:noFill/>
                <a:tableStyleId>{AFE1335D-1600-45E0-9A7A-D71F691BB131}</a:tableStyleId>
              </a:tblPr>
              <a:tblGrid>
                <a:gridCol w="3110425"/>
                <a:gridCol w="1328225"/>
                <a:gridCol w="1298525"/>
                <a:gridCol w="1267375"/>
                <a:gridCol w="1205300"/>
              </a:tblGrid>
              <a:tr h="444575">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latin typeface="Lora"/>
                          <a:ea typeface="Lora"/>
                          <a:cs typeface="Lora"/>
                          <a:sym typeface="Lora"/>
                        </a:rPr>
                        <a:t>Model No.</a:t>
                      </a:r>
                      <a:endParaRPr b="1" sz="2000" u="none" cap="none" strike="noStrike">
                        <a:latin typeface="Lora"/>
                        <a:ea typeface="Lora"/>
                        <a:cs typeface="Lora"/>
                        <a:sym typeface="Lora"/>
                      </a:endParaRPr>
                    </a:p>
                  </a:txBody>
                  <a:tcPr marT="0" marB="0" marR="73025" marL="73025" anchor="ctr">
                    <a:lnR cap="flat" cmpd="sng" w="9525">
                      <a:solidFill>
                        <a:srgbClr val="000000"/>
                      </a:solidFill>
                      <a:prstDash val="solid"/>
                      <a:round/>
                      <a:headEnd len="sm" w="sm" type="none"/>
                      <a:tailEnd len="sm" w="sm" type="none"/>
                    </a:lnR>
                    <a:solidFill>
                      <a:srgbClr val="D9D9D9"/>
                    </a:solidFill>
                  </a:tcPr>
                </a:tc>
                <a:tc>
                  <a:txBody>
                    <a:bodyPr/>
                    <a:lstStyle/>
                    <a:p>
                      <a:pPr indent="0" lvl="0" marL="0" marR="0" rtl="0" algn="ctr">
                        <a:lnSpc>
                          <a:spcPct val="100000"/>
                        </a:lnSpc>
                        <a:spcBef>
                          <a:spcPts val="0"/>
                        </a:spcBef>
                        <a:spcAft>
                          <a:spcPts val="0"/>
                        </a:spcAft>
                        <a:buClr>
                          <a:srgbClr val="000000"/>
                        </a:buClr>
                        <a:buSzPts val="2000"/>
                        <a:buFont typeface="Arial"/>
                        <a:buNone/>
                      </a:pPr>
                      <a:r>
                        <a:rPr b="1" lang="en-US" sz="2000" u="none" cap="none" strike="noStrike">
                          <a:latin typeface="Lora"/>
                          <a:ea typeface="Lora"/>
                          <a:cs typeface="Lora"/>
                          <a:sym typeface="Lora"/>
                        </a:rPr>
                        <a:t>3912</a:t>
                      </a:r>
                      <a:endParaRPr b="1" sz="2000" u="none" cap="none" strike="noStrike">
                        <a:latin typeface="Lora"/>
                        <a:ea typeface="Lora"/>
                        <a:cs typeface="Lora"/>
                        <a:sym typeface="Lora"/>
                      </a:endParaRPr>
                    </a:p>
                  </a:txBody>
                  <a:tcPr marT="0" marB="0" marR="73025" marL="730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c>
                  <a:txBody>
                    <a:bodyPr/>
                    <a:lstStyle/>
                    <a:p>
                      <a:pPr indent="0" lvl="0" marL="0" marR="0" rtl="0" algn="ctr">
                        <a:lnSpc>
                          <a:spcPct val="100000"/>
                        </a:lnSpc>
                        <a:spcBef>
                          <a:spcPts val="0"/>
                        </a:spcBef>
                        <a:spcAft>
                          <a:spcPts val="0"/>
                        </a:spcAft>
                        <a:buClr>
                          <a:srgbClr val="000000"/>
                        </a:buClr>
                        <a:buSzPts val="2000"/>
                        <a:buFont typeface="Arial"/>
                        <a:buNone/>
                      </a:pPr>
                      <a:r>
                        <a:rPr b="1" lang="en-US" sz="2000" u="none" cap="none" strike="noStrike">
                          <a:latin typeface="Lora"/>
                          <a:ea typeface="Lora"/>
                          <a:cs typeface="Lora"/>
                          <a:sym typeface="Lora"/>
                        </a:rPr>
                        <a:t>3922</a:t>
                      </a:r>
                      <a:endParaRPr b="1" sz="2000" u="none" cap="none" strike="noStrike">
                        <a:latin typeface="Lora"/>
                        <a:ea typeface="Lora"/>
                        <a:cs typeface="Lora"/>
                        <a:sym typeface="Lora"/>
                      </a:endParaRPr>
                    </a:p>
                  </a:txBody>
                  <a:tcPr marT="0" marB="0" marR="73025" marL="730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solidFill>
                      <a:srgbClr val="D9D9D9"/>
                    </a:solidFill>
                  </a:tcPr>
                </a:tc>
                <a:tc>
                  <a:txBody>
                    <a:bodyPr/>
                    <a:lstStyle/>
                    <a:p>
                      <a:pPr indent="0" lvl="0" marL="0" marR="0" rtl="0" algn="ctr">
                        <a:lnSpc>
                          <a:spcPct val="100000"/>
                        </a:lnSpc>
                        <a:spcBef>
                          <a:spcPts val="0"/>
                        </a:spcBef>
                        <a:spcAft>
                          <a:spcPts val="0"/>
                        </a:spcAft>
                        <a:buClr>
                          <a:srgbClr val="000000"/>
                        </a:buClr>
                        <a:buSzPts val="2000"/>
                        <a:buFont typeface="Arial"/>
                        <a:buNone/>
                      </a:pPr>
                      <a:r>
                        <a:rPr b="1" lang="en-US" sz="2000" u="none" cap="none" strike="noStrike">
                          <a:latin typeface="Lora"/>
                          <a:ea typeface="Lora"/>
                          <a:cs typeface="Lora"/>
                          <a:sym typeface="Lora"/>
                        </a:rPr>
                        <a:t>3932</a:t>
                      </a:r>
                      <a:endParaRPr b="1" sz="2000" u="none" cap="none" strike="noStrike">
                        <a:latin typeface="Lora"/>
                        <a:ea typeface="Lora"/>
                        <a:cs typeface="Lora"/>
                        <a:sym typeface="Lora"/>
                      </a:endParaRPr>
                    </a:p>
                  </a:txBody>
                  <a:tcPr marT="0" marB="0" marR="73025" marL="730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c>
                  <a:txBody>
                    <a:bodyPr/>
                    <a:lstStyle/>
                    <a:p>
                      <a:pPr indent="0" lvl="0" marL="0" marR="0" rtl="0" algn="ctr">
                        <a:lnSpc>
                          <a:spcPct val="100000"/>
                        </a:lnSpc>
                        <a:spcBef>
                          <a:spcPts val="0"/>
                        </a:spcBef>
                        <a:spcAft>
                          <a:spcPts val="0"/>
                        </a:spcAft>
                        <a:buClr>
                          <a:srgbClr val="000000"/>
                        </a:buClr>
                        <a:buSzPts val="2000"/>
                        <a:buFont typeface="Arial"/>
                        <a:buNone/>
                      </a:pPr>
                      <a:r>
                        <a:rPr b="1" lang="en-US" sz="2000" u="none" cap="none" strike="noStrike">
                          <a:latin typeface="Lora"/>
                          <a:ea typeface="Lora"/>
                          <a:cs typeface="Lora"/>
                          <a:sym typeface="Lora"/>
                        </a:rPr>
                        <a:t>3952</a:t>
                      </a:r>
                      <a:endParaRPr b="1" sz="2000" u="none" cap="none" strike="noStrike">
                        <a:latin typeface="Lora"/>
                        <a:ea typeface="Lora"/>
                        <a:cs typeface="Lora"/>
                        <a:sym typeface="Lora"/>
                      </a:endParaRPr>
                    </a:p>
                  </a:txBody>
                  <a:tcPr marT="0" marB="0" marR="73025" marL="730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r>
              <a:tr h="52600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Lora"/>
                          <a:ea typeface="Lora"/>
                          <a:cs typeface="Lora"/>
                          <a:sym typeface="Lora"/>
                        </a:rPr>
                        <a:t>Flow Cell Path Length (in mm)</a:t>
                      </a:r>
                      <a:endParaRPr sz="1600" u="none" cap="none" strike="noStrike">
                        <a:latin typeface="Lora"/>
                        <a:ea typeface="Lora"/>
                        <a:cs typeface="Lora"/>
                        <a:sym typeface="Lora"/>
                      </a:endParaRPr>
                    </a:p>
                  </a:txBody>
                  <a:tcPr marT="0" marB="0" marR="73025" marL="73025" anchor="ctr">
                    <a:lnR cap="flat" cmpd="sng" w="9525">
                      <a:solidFill>
                        <a:srgbClr val="000000"/>
                      </a:solidFill>
                      <a:prstDash val="solid"/>
                      <a:round/>
                      <a:headEnd len="sm" w="sm" type="none"/>
                      <a:tailEnd len="sm" w="sm" type="none"/>
                    </a:lnR>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Lora"/>
                          <a:ea typeface="Lora"/>
                          <a:cs typeface="Lora"/>
                          <a:sym typeface="Lora"/>
                        </a:rPr>
                        <a:t>10</a:t>
                      </a:r>
                      <a:endParaRPr sz="1600" u="none" cap="none" strike="noStrike">
                        <a:latin typeface="Lora"/>
                        <a:ea typeface="Lora"/>
                        <a:cs typeface="Lora"/>
                        <a:sym typeface="Lora"/>
                      </a:endParaRPr>
                    </a:p>
                  </a:txBody>
                  <a:tcPr marT="0" marB="0" marR="73025" marL="730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Lora"/>
                          <a:ea typeface="Lora"/>
                          <a:cs typeface="Lora"/>
                          <a:sym typeface="Lora"/>
                        </a:rPr>
                        <a:t>5</a:t>
                      </a:r>
                      <a:endParaRPr sz="1600" u="none" cap="none" strike="noStrike">
                        <a:latin typeface="Lora"/>
                        <a:ea typeface="Lora"/>
                        <a:cs typeface="Lora"/>
                        <a:sym typeface="Lora"/>
                      </a:endParaRPr>
                    </a:p>
                  </a:txBody>
                  <a:tcPr marT="0" marB="0" marR="73025" marL="730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Lora"/>
                          <a:ea typeface="Lora"/>
                          <a:cs typeface="Lora"/>
                          <a:sym typeface="Lora"/>
                        </a:rPr>
                        <a:t>3</a:t>
                      </a:r>
                      <a:endParaRPr sz="1600" u="none" cap="none" strike="noStrike">
                        <a:latin typeface="Lora"/>
                        <a:ea typeface="Lora"/>
                        <a:cs typeface="Lora"/>
                        <a:sym typeface="Lora"/>
                      </a:endParaRPr>
                    </a:p>
                  </a:txBody>
                  <a:tcPr marT="0" marB="0" marR="73025" marL="730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Lora"/>
                          <a:ea typeface="Lora"/>
                          <a:cs typeface="Lora"/>
                          <a:sym typeface="Lora"/>
                        </a:rPr>
                        <a:t>2</a:t>
                      </a:r>
                      <a:endParaRPr sz="1600" u="none" cap="none" strike="noStrike">
                        <a:latin typeface="Lora"/>
                        <a:ea typeface="Lora"/>
                        <a:cs typeface="Lora"/>
                        <a:sym typeface="Lora"/>
                      </a:endParaRPr>
                    </a:p>
                  </a:txBody>
                  <a:tcPr marT="0" marB="0" marR="73025" marL="730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2600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Lora"/>
                          <a:ea typeface="Lora"/>
                          <a:cs typeface="Lora"/>
                          <a:sym typeface="Lora"/>
                        </a:rPr>
                        <a:t>COD Range (in mg/L)</a:t>
                      </a:r>
                      <a:endParaRPr sz="1600" u="none" cap="none" strike="noStrike">
                        <a:latin typeface="Lora"/>
                        <a:ea typeface="Lora"/>
                        <a:cs typeface="Lora"/>
                        <a:sym typeface="Lora"/>
                      </a:endParaRPr>
                    </a:p>
                  </a:txBody>
                  <a:tcPr marT="0" marB="0" marR="73025" marL="730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Lora"/>
                          <a:ea typeface="Lora"/>
                          <a:cs typeface="Lora"/>
                          <a:sym typeface="Lora"/>
                        </a:rPr>
                        <a:t>0 - 300</a:t>
                      </a:r>
                      <a:endParaRPr sz="1600" u="none" cap="none" strike="noStrike">
                        <a:latin typeface="Lora"/>
                        <a:ea typeface="Lora"/>
                        <a:cs typeface="Lora"/>
                        <a:sym typeface="Lora"/>
                      </a:endParaRPr>
                    </a:p>
                  </a:txBody>
                  <a:tcPr marT="0" marB="0" marR="73025" marL="730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Lora"/>
                          <a:ea typeface="Lora"/>
                          <a:cs typeface="Lora"/>
                          <a:sym typeface="Lora"/>
                        </a:rPr>
                        <a:t>0 - 800</a:t>
                      </a:r>
                      <a:endParaRPr sz="1600" u="none" cap="none" strike="noStrike">
                        <a:latin typeface="Lora"/>
                        <a:ea typeface="Lora"/>
                        <a:cs typeface="Lora"/>
                        <a:sym typeface="Lora"/>
                      </a:endParaRPr>
                    </a:p>
                  </a:txBody>
                  <a:tcPr marT="0" marB="0" marR="73025" marL="730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Lora"/>
                          <a:ea typeface="Lora"/>
                          <a:cs typeface="Lora"/>
                          <a:sym typeface="Lora"/>
                        </a:rPr>
                        <a:t>0 - 2000</a:t>
                      </a:r>
                      <a:endParaRPr sz="1600" u="none" cap="none" strike="noStrike">
                        <a:latin typeface="Lora"/>
                        <a:ea typeface="Lora"/>
                        <a:cs typeface="Lora"/>
                        <a:sym typeface="Lora"/>
                      </a:endParaRPr>
                    </a:p>
                  </a:txBody>
                  <a:tcPr marT="0" marB="0" marR="73025" marL="730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Lora"/>
                          <a:ea typeface="Lora"/>
                          <a:cs typeface="Lora"/>
                          <a:sym typeface="Lora"/>
                        </a:rPr>
                        <a:t>0 - 5000</a:t>
                      </a:r>
                      <a:endParaRPr sz="1600" u="none" cap="none" strike="noStrike">
                        <a:latin typeface="Lora"/>
                        <a:ea typeface="Lora"/>
                        <a:cs typeface="Lora"/>
                        <a:sym typeface="Lora"/>
                      </a:endParaRPr>
                    </a:p>
                  </a:txBody>
                  <a:tcPr marT="0" marB="0" marR="73025" marL="730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2600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Lora"/>
                          <a:ea typeface="Lora"/>
                          <a:cs typeface="Lora"/>
                          <a:sym typeface="Lora"/>
                        </a:rPr>
                        <a:t>TSS Range (in mg/L)</a:t>
                      </a:r>
                      <a:endParaRPr sz="1600" u="none" cap="none" strike="noStrike">
                        <a:latin typeface="Lora"/>
                        <a:ea typeface="Lora"/>
                        <a:cs typeface="Lora"/>
                        <a:sym typeface="Lora"/>
                      </a:endParaRPr>
                    </a:p>
                  </a:txBody>
                  <a:tcPr marT="0" marB="0" marR="73025" marL="730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Lora"/>
                          <a:ea typeface="Lora"/>
                          <a:cs typeface="Lora"/>
                          <a:sym typeface="Lora"/>
                        </a:rPr>
                        <a:t>0 - 450</a:t>
                      </a:r>
                      <a:endParaRPr sz="1600" u="none" cap="none" strike="noStrike">
                        <a:latin typeface="Lora"/>
                        <a:ea typeface="Lora"/>
                        <a:cs typeface="Lora"/>
                        <a:sym typeface="Lora"/>
                      </a:endParaRPr>
                    </a:p>
                  </a:txBody>
                  <a:tcPr marT="0" marB="0" marR="73025" marL="730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Lora"/>
                          <a:ea typeface="Lora"/>
                          <a:cs typeface="Lora"/>
                          <a:sym typeface="Lora"/>
                        </a:rPr>
                        <a:t>0 - 750</a:t>
                      </a:r>
                      <a:endParaRPr sz="1600" u="none" cap="none" strike="noStrike">
                        <a:latin typeface="Lora"/>
                        <a:ea typeface="Lora"/>
                        <a:cs typeface="Lora"/>
                        <a:sym typeface="Lora"/>
                      </a:endParaRPr>
                    </a:p>
                  </a:txBody>
                  <a:tcPr marT="0" marB="0" marR="73025" marL="730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Lora"/>
                          <a:ea typeface="Lora"/>
                          <a:cs typeface="Lora"/>
                          <a:sym typeface="Lora"/>
                        </a:rPr>
                        <a:t>0 - 1500</a:t>
                      </a:r>
                      <a:endParaRPr sz="1600" u="none" cap="none" strike="noStrike">
                        <a:latin typeface="Lora"/>
                        <a:ea typeface="Lora"/>
                        <a:cs typeface="Lora"/>
                        <a:sym typeface="Lora"/>
                      </a:endParaRPr>
                    </a:p>
                  </a:txBody>
                  <a:tcPr marT="0" marB="0" marR="73025" marL="730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Lora"/>
                          <a:ea typeface="Lora"/>
                          <a:cs typeface="Lora"/>
                          <a:sym typeface="Lora"/>
                        </a:rPr>
                        <a:t>0 - 2500</a:t>
                      </a:r>
                      <a:endParaRPr sz="1600" u="none" cap="none" strike="noStrike">
                        <a:latin typeface="Lora"/>
                        <a:ea typeface="Lora"/>
                        <a:cs typeface="Lora"/>
                        <a:sym typeface="Lora"/>
                      </a:endParaRPr>
                    </a:p>
                  </a:txBody>
                  <a:tcPr marT="0" marB="0" marR="73025" marL="730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2600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Lora"/>
                          <a:ea typeface="Lora"/>
                          <a:cs typeface="Lora"/>
                          <a:sym typeface="Lora"/>
                        </a:rPr>
                        <a:t>pH Range</a:t>
                      </a:r>
                      <a:endParaRPr sz="1600" u="none" cap="none" strike="noStrike">
                        <a:latin typeface="Lora"/>
                        <a:ea typeface="Lora"/>
                        <a:cs typeface="Lora"/>
                        <a:sym typeface="Lora"/>
                      </a:endParaRPr>
                    </a:p>
                  </a:txBody>
                  <a:tcPr marT="0" marB="0" marR="73025" marL="730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Lora"/>
                          <a:ea typeface="Lora"/>
                          <a:cs typeface="Lora"/>
                          <a:sym typeface="Lora"/>
                        </a:rPr>
                        <a:t>0 - 14</a:t>
                      </a:r>
                      <a:endParaRPr sz="1600" u="none" cap="none" strike="noStrike">
                        <a:latin typeface="Lora"/>
                        <a:ea typeface="Lora"/>
                        <a:cs typeface="Lora"/>
                        <a:sym typeface="Lora"/>
                      </a:endParaRPr>
                    </a:p>
                  </a:txBody>
                  <a:tcPr marT="0" marB="0" marR="73025" marL="730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Lora"/>
                          <a:ea typeface="Lora"/>
                          <a:cs typeface="Lora"/>
                          <a:sym typeface="Lora"/>
                        </a:rPr>
                        <a:t>0 - 14</a:t>
                      </a:r>
                      <a:endParaRPr sz="1600" u="none" cap="none" strike="noStrike">
                        <a:latin typeface="Lora"/>
                        <a:ea typeface="Lora"/>
                        <a:cs typeface="Lora"/>
                        <a:sym typeface="Lora"/>
                      </a:endParaRPr>
                    </a:p>
                  </a:txBody>
                  <a:tcPr marT="0" marB="0" marR="73025" marL="730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Lora"/>
                          <a:ea typeface="Lora"/>
                          <a:cs typeface="Lora"/>
                          <a:sym typeface="Lora"/>
                        </a:rPr>
                        <a:t>0 - 14</a:t>
                      </a:r>
                      <a:endParaRPr sz="1600" u="none" cap="none" strike="noStrike">
                        <a:latin typeface="Lora"/>
                        <a:ea typeface="Lora"/>
                        <a:cs typeface="Lora"/>
                        <a:sym typeface="Lora"/>
                      </a:endParaRPr>
                    </a:p>
                  </a:txBody>
                  <a:tcPr marT="0" marB="0" marR="73025" marL="730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Lora"/>
                          <a:ea typeface="Lora"/>
                          <a:cs typeface="Lora"/>
                          <a:sym typeface="Lora"/>
                        </a:rPr>
                        <a:t>0 - 14</a:t>
                      </a:r>
                      <a:endParaRPr sz="1600" u="none" cap="none" strike="noStrike">
                        <a:latin typeface="Lora"/>
                        <a:ea typeface="Lora"/>
                        <a:cs typeface="Lora"/>
                        <a:sym typeface="Lora"/>
                      </a:endParaRPr>
                    </a:p>
                  </a:txBody>
                  <a:tcPr marT="0" marB="0" marR="73025" marL="730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47975">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solidFill>
                            <a:schemeClr val="dk1"/>
                          </a:solidFill>
                          <a:latin typeface="Lora"/>
                          <a:ea typeface="Lora"/>
                          <a:cs typeface="Lora"/>
                          <a:sym typeface="Lora"/>
                        </a:rPr>
                        <a:t>BOD Range (in mg/L)</a:t>
                      </a:r>
                      <a:endParaRPr sz="1600" u="none" cap="none" strike="noStrike">
                        <a:solidFill>
                          <a:schemeClr val="dk1"/>
                        </a:solidFill>
                        <a:latin typeface="Lora"/>
                        <a:ea typeface="Lora"/>
                        <a:cs typeface="Lora"/>
                        <a:sym typeface="Lora"/>
                      </a:endParaRPr>
                    </a:p>
                    <a:p>
                      <a:pPr indent="0" lvl="0" marL="0" marR="0" rtl="0" algn="l">
                        <a:lnSpc>
                          <a:spcPct val="100000"/>
                        </a:lnSpc>
                        <a:spcBef>
                          <a:spcPts val="0"/>
                        </a:spcBef>
                        <a:spcAft>
                          <a:spcPts val="0"/>
                        </a:spcAft>
                        <a:buClr>
                          <a:schemeClr val="dk1"/>
                        </a:buClr>
                        <a:buSzPts val="1100"/>
                        <a:buFont typeface="Arial"/>
                        <a:buNone/>
                      </a:pPr>
                      <a:r>
                        <a:rPr lang="en-US" sz="1600" u="none" cap="none" strike="noStrike">
                          <a:solidFill>
                            <a:schemeClr val="dk1"/>
                          </a:solidFill>
                          <a:latin typeface="Lora"/>
                          <a:ea typeface="Lora"/>
                          <a:cs typeface="Lora"/>
                          <a:sym typeface="Lora"/>
                        </a:rPr>
                        <a:t>[BOD = 0.5 * COD]</a:t>
                      </a:r>
                      <a:endParaRPr sz="1600" u="none" cap="none" strike="noStrike">
                        <a:solidFill>
                          <a:schemeClr val="dk1"/>
                        </a:solidFill>
                        <a:latin typeface="Lora"/>
                        <a:ea typeface="Lora"/>
                        <a:cs typeface="Lora"/>
                        <a:sym typeface="Lora"/>
                      </a:endParaRPr>
                    </a:p>
                  </a:txBody>
                  <a:tcPr marT="0" marB="0" marR="73025" marL="730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Lora"/>
                          <a:ea typeface="Lora"/>
                          <a:cs typeface="Lora"/>
                          <a:sym typeface="Lora"/>
                        </a:rPr>
                        <a:t>0 - 150</a:t>
                      </a:r>
                      <a:endParaRPr sz="1600" u="none" cap="none" strike="noStrike">
                        <a:latin typeface="Lora"/>
                        <a:ea typeface="Lora"/>
                        <a:cs typeface="Lora"/>
                        <a:sym typeface="Lora"/>
                      </a:endParaRPr>
                    </a:p>
                  </a:txBody>
                  <a:tcPr marT="0" marB="0" marR="73025" marL="730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Lora"/>
                          <a:ea typeface="Lora"/>
                          <a:cs typeface="Lora"/>
                          <a:sym typeface="Lora"/>
                        </a:rPr>
                        <a:t>0 - 400</a:t>
                      </a:r>
                      <a:endParaRPr sz="1600" u="none" cap="none" strike="noStrike">
                        <a:latin typeface="Lora"/>
                        <a:ea typeface="Lora"/>
                        <a:cs typeface="Lora"/>
                        <a:sym typeface="Lora"/>
                      </a:endParaRPr>
                    </a:p>
                  </a:txBody>
                  <a:tcPr marT="0" marB="0" marR="73025" marL="730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Lora"/>
                          <a:ea typeface="Lora"/>
                          <a:cs typeface="Lora"/>
                          <a:sym typeface="Lora"/>
                        </a:rPr>
                        <a:t>0 - 1000</a:t>
                      </a:r>
                      <a:endParaRPr sz="1600" u="none" cap="none" strike="noStrike">
                        <a:latin typeface="Lora"/>
                        <a:ea typeface="Lora"/>
                        <a:cs typeface="Lora"/>
                        <a:sym typeface="Lora"/>
                      </a:endParaRPr>
                    </a:p>
                  </a:txBody>
                  <a:tcPr marT="0" marB="0" marR="73025" marL="730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Lora"/>
                          <a:ea typeface="Lora"/>
                          <a:cs typeface="Lora"/>
                          <a:sym typeface="Lora"/>
                        </a:rPr>
                        <a:t>0 - 2500</a:t>
                      </a:r>
                      <a:endParaRPr sz="1600" u="none" cap="none" strike="noStrike">
                        <a:latin typeface="Lora"/>
                        <a:ea typeface="Lora"/>
                        <a:cs typeface="Lora"/>
                        <a:sym typeface="Lora"/>
                      </a:endParaRPr>
                    </a:p>
                  </a:txBody>
                  <a:tcPr marT="0" marB="0" marR="73025" marL="730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47975">
                <a:tc>
                  <a:txBody>
                    <a:bodyPr/>
                    <a:lstStyle/>
                    <a:p>
                      <a:pPr indent="0" lvl="0" marL="0" marR="0" rtl="0" algn="l">
                        <a:lnSpc>
                          <a:spcPct val="100000"/>
                        </a:lnSpc>
                        <a:spcBef>
                          <a:spcPts val="0"/>
                        </a:spcBef>
                        <a:spcAft>
                          <a:spcPts val="0"/>
                        </a:spcAft>
                        <a:buClr>
                          <a:schemeClr val="dk1"/>
                        </a:buClr>
                        <a:buSzPts val="1100"/>
                        <a:buFont typeface="Arial"/>
                        <a:buNone/>
                      </a:pPr>
                      <a:r>
                        <a:rPr lang="en-US" sz="1600" u="none" cap="none" strike="noStrike">
                          <a:solidFill>
                            <a:schemeClr val="dk1"/>
                          </a:solidFill>
                          <a:latin typeface="Lora"/>
                          <a:ea typeface="Lora"/>
                          <a:cs typeface="Lora"/>
                          <a:sym typeface="Lora"/>
                        </a:rPr>
                        <a:t>TOC Range (in mg/L)</a:t>
                      </a:r>
                      <a:endParaRPr sz="1600" u="none" cap="none" strike="noStrike">
                        <a:solidFill>
                          <a:schemeClr val="dk1"/>
                        </a:solidFill>
                        <a:latin typeface="Lora"/>
                        <a:ea typeface="Lora"/>
                        <a:cs typeface="Lora"/>
                        <a:sym typeface="Lora"/>
                      </a:endParaRPr>
                    </a:p>
                    <a:p>
                      <a:pPr indent="0" lvl="0" marL="0" marR="0" rtl="0" algn="l">
                        <a:lnSpc>
                          <a:spcPct val="100000"/>
                        </a:lnSpc>
                        <a:spcBef>
                          <a:spcPts val="0"/>
                        </a:spcBef>
                        <a:spcAft>
                          <a:spcPts val="0"/>
                        </a:spcAft>
                        <a:buClr>
                          <a:schemeClr val="dk1"/>
                        </a:buClr>
                        <a:buSzPts val="1100"/>
                        <a:buFont typeface="Arial"/>
                        <a:buNone/>
                      </a:pPr>
                      <a:r>
                        <a:rPr lang="en-US" sz="1600" u="none" cap="none" strike="noStrike">
                          <a:solidFill>
                            <a:schemeClr val="dk1"/>
                          </a:solidFill>
                          <a:latin typeface="Lora"/>
                          <a:ea typeface="Lora"/>
                          <a:cs typeface="Lora"/>
                          <a:sym typeface="Lora"/>
                        </a:rPr>
                        <a:t>[TOC = 0.33 * COD]</a:t>
                      </a:r>
                      <a:endParaRPr sz="1600" u="none" cap="none" strike="noStrike">
                        <a:solidFill>
                          <a:schemeClr val="dk1"/>
                        </a:solidFill>
                        <a:latin typeface="Lora"/>
                        <a:ea typeface="Lora"/>
                        <a:cs typeface="Lora"/>
                        <a:sym typeface="Lora"/>
                      </a:endParaRPr>
                    </a:p>
                  </a:txBody>
                  <a:tcPr marT="0" marB="0" marR="73025" marL="730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Lora"/>
                          <a:ea typeface="Lora"/>
                          <a:cs typeface="Lora"/>
                          <a:sym typeface="Lora"/>
                        </a:rPr>
                        <a:t>0 - 99</a:t>
                      </a:r>
                      <a:endParaRPr sz="1600" u="none" cap="none" strike="noStrike">
                        <a:latin typeface="Lora"/>
                        <a:ea typeface="Lora"/>
                        <a:cs typeface="Lora"/>
                        <a:sym typeface="Lora"/>
                      </a:endParaRPr>
                    </a:p>
                  </a:txBody>
                  <a:tcPr marT="0" marB="0" marR="73025" marL="730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Lora"/>
                          <a:ea typeface="Lora"/>
                          <a:cs typeface="Lora"/>
                          <a:sym typeface="Lora"/>
                        </a:rPr>
                        <a:t>0 - 264</a:t>
                      </a:r>
                      <a:endParaRPr sz="1600" u="none" cap="none" strike="noStrike">
                        <a:latin typeface="Lora"/>
                        <a:ea typeface="Lora"/>
                        <a:cs typeface="Lora"/>
                        <a:sym typeface="Lora"/>
                      </a:endParaRPr>
                    </a:p>
                  </a:txBody>
                  <a:tcPr marT="0" marB="0" marR="73025" marL="730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Lora"/>
                          <a:ea typeface="Lora"/>
                          <a:cs typeface="Lora"/>
                          <a:sym typeface="Lora"/>
                        </a:rPr>
                        <a:t>0 - 660</a:t>
                      </a:r>
                      <a:endParaRPr sz="1600" u="none" cap="none" strike="noStrike">
                        <a:latin typeface="Lora"/>
                        <a:ea typeface="Lora"/>
                        <a:cs typeface="Lora"/>
                        <a:sym typeface="Lora"/>
                      </a:endParaRPr>
                    </a:p>
                  </a:txBody>
                  <a:tcPr marT="0" marB="0" marR="73025" marL="730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Lora"/>
                          <a:ea typeface="Lora"/>
                          <a:cs typeface="Lora"/>
                          <a:sym typeface="Lora"/>
                        </a:rPr>
                        <a:t>0 - 1650</a:t>
                      </a:r>
                      <a:endParaRPr sz="1600" u="none" cap="none" strike="noStrike">
                        <a:latin typeface="Lora"/>
                        <a:ea typeface="Lora"/>
                        <a:cs typeface="Lora"/>
                        <a:sym typeface="Lora"/>
                      </a:endParaRPr>
                    </a:p>
                  </a:txBody>
                  <a:tcPr marT="0" marB="0" marR="73025" marL="730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0"/>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WHAT is COD</a:t>
            </a:r>
            <a:endParaRPr/>
          </a:p>
        </p:txBody>
      </p:sp>
      <p:sp>
        <p:nvSpPr>
          <p:cNvPr id="167" name="Google Shape;167;p30"/>
          <p:cNvSpPr txBox="1"/>
          <p:nvPr>
            <p:ph idx="2" type="body"/>
          </p:nvPr>
        </p:nvSpPr>
        <p:spPr>
          <a:xfrm>
            <a:off x="1116974" y="914033"/>
            <a:ext cx="6791387" cy="1558353"/>
          </a:xfrm>
          <a:prstGeom prst="rect">
            <a:avLst/>
          </a:prstGeom>
          <a:noFill/>
          <a:ln>
            <a:noFill/>
          </a:ln>
        </p:spPr>
        <p:txBody>
          <a:bodyPr anchorCtr="0" anchor="t" bIns="45700" lIns="91425" spcFirstLastPara="1" rIns="91425" wrap="square" tIns="45700">
            <a:noAutofit/>
          </a:bodyPr>
          <a:lstStyle/>
          <a:p>
            <a:pPr indent="0" lvl="0" marL="76200" rtl="0" algn="l">
              <a:lnSpc>
                <a:spcPct val="100000"/>
              </a:lnSpc>
              <a:spcBef>
                <a:spcPts val="480"/>
              </a:spcBef>
              <a:spcAft>
                <a:spcPts val="0"/>
              </a:spcAft>
              <a:buSzPts val="2400"/>
              <a:buNone/>
            </a:pPr>
            <a:r>
              <a:rPr b="1" lang="en-US" sz="1600"/>
              <a:t>What is Chemical Oxygen Demand (COD)?</a:t>
            </a:r>
            <a:endParaRPr sz="1600"/>
          </a:p>
          <a:p>
            <a:pPr indent="0" lvl="0" marL="76200" rtl="0" algn="l">
              <a:lnSpc>
                <a:spcPct val="100000"/>
              </a:lnSpc>
              <a:spcBef>
                <a:spcPts val="480"/>
              </a:spcBef>
              <a:spcAft>
                <a:spcPts val="0"/>
              </a:spcAft>
              <a:buSzPts val="2400"/>
              <a:buNone/>
            </a:pPr>
            <a:r>
              <a:rPr lang="en-US" sz="1600"/>
              <a:t>Chemical oxygen demand (COD) is the amount of dissolved oxygen that must be present in water to oxidize chemical organic materials, like petroleum. COD is used to gauge the short-term impact wastewater effluents will have on the oxygen levels of receiving waters. </a:t>
            </a:r>
            <a:endParaRPr sz="1600"/>
          </a:p>
        </p:txBody>
      </p:sp>
      <p:sp>
        <p:nvSpPr>
          <p:cNvPr id="168" name="Google Shape;168;p30"/>
          <p:cNvSpPr txBox="1"/>
          <p:nvPr>
            <p:ph idx="3" type="body"/>
          </p:nvPr>
        </p:nvSpPr>
        <p:spPr>
          <a:xfrm>
            <a:off x="4645025" y="1151335"/>
            <a:ext cx="4041900" cy="479700"/>
          </a:xfrm>
          <a:prstGeom prst="rect">
            <a:avLst/>
          </a:prstGeom>
          <a:noFill/>
          <a:ln>
            <a:noFill/>
          </a:ln>
        </p:spPr>
        <p:txBody>
          <a:bodyPr anchorCtr="0" anchor="b" bIns="45700" lIns="91425" spcFirstLastPara="1" rIns="91425" wrap="square" tIns="45700">
            <a:normAutofit fontScale="55000" lnSpcReduction="20000"/>
          </a:bodyPr>
          <a:lstStyle/>
          <a:p>
            <a:pPr indent="-228600" lvl="0" marL="457200" rtl="0" algn="l">
              <a:lnSpc>
                <a:spcPct val="100000"/>
              </a:lnSpc>
              <a:spcBef>
                <a:spcPts val="480"/>
              </a:spcBef>
              <a:spcAft>
                <a:spcPts val="0"/>
              </a:spcAft>
              <a:buClr>
                <a:schemeClr val="dk1"/>
              </a:buClr>
              <a:buSzPct val="181818"/>
              <a:buNone/>
            </a:pPr>
            <a:r>
              <a:rPr lang="en-US"/>
              <a:t> </a:t>
            </a:r>
            <a:endParaRPr/>
          </a:p>
        </p:txBody>
      </p:sp>
      <p:sp>
        <p:nvSpPr>
          <p:cNvPr id="169" name="Google Shape;169;p30"/>
          <p:cNvSpPr txBox="1"/>
          <p:nvPr>
            <p:ph idx="4" type="body"/>
          </p:nvPr>
        </p:nvSpPr>
        <p:spPr>
          <a:xfrm>
            <a:off x="4631333" y="1631157"/>
            <a:ext cx="3283943" cy="335566"/>
          </a:xfrm>
          <a:prstGeom prst="rect">
            <a:avLst/>
          </a:prstGeom>
          <a:noFill/>
          <a:ln>
            <a:noFill/>
          </a:ln>
        </p:spPr>
        <p:txBody>
          <a:bodyPr anchorCtr="0" anchor="t" bIns="45700" lIns="91425" spcFirstLastPara="1" rIns="91425" wrap="square" tIns="45700">
            <a:normAutofit fontScale="55000" lnSpcReduction="20000"/>
          </a:bodyPr>
          <a:lstStyle/>
          <a:p>
            <a:pPr indent="-381000" lvl="0" marL="457200" rtl="0" algn="l">
              <a:lnSpc>
                <a:spcPct val="100000"/>
              </a:lnSpc>
              <a:spcBef>
                <a:spcPts val="480"/>
              </a:spcBef>
              <a:spcAft>
                <a:spcPts val="0"/>
              </a:spcAft>
              <a:buClr>
                <a:schemeClr val="dk1"/>
              </a:buClr>
              <a:buSzPct val="181818"/>
              <a:buChar char="•"/>
            </a:pPr>
            <a:r>
              <a:rPr lang="en-US"/>
              <a:t> </a:t>
            </a:r>
            <a:endParaRPr/>
          </a:p>
        </p:txBody>
      </p:sp>
      <p:sp>
        <p:nvSpPr>
          <p:cNvPr id="170" name="Google Shape;170;p30"/>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171" name="Google Shape;171;p30"/>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72" name="Google Shape;172;p30"/>
          <p:cNvSpPr txBox="1"/>
          <p:nvPr>
            <p:ph idx="1" type="body"/>
          </p:nvPr>
        </p:nvSpPr>
        <p:spPr>
          <a:xfrm>
            <a:off x="1600200" y="746250"/>
            <a:ext cx="3282653" cy="335566"/>
          </a:xfrm>
          <a:prstGeom prst="rect">
            <a:avLst/>
          </a:prstGeom>
          <a:noFill/>
          <a:ln>
            <a:noFill/>
          </a:ln>
        </p:spPr>
        <p:txBody>
          <a:bodyPr anchorCtr="0" anchor="b" bIns="45700" lIns="91425" spcFirstLastPara="1" rIns="91425" wrap="square" tIns="45700">
            <a:normAutofit fontScale="55000" lnSpcReduction="20000"/>
          </a:bodyPr>
          <a:lstStyle/>
          <a:p>
            <a:pPr indent="-228600" lvl="0" marL="457200" rtl="0" algn="l">
              <a:lnSpc>
                <a:spcPct val="100000"/>
              </a:lnSpc>
              <a:spcBef>
                <a:spcPts val="480"/>
              </a:spcBef>
              <a:spcAft>
                <a:spcPts val="0"/>
              </a:spcAft>
              <a:buClr>
                <a:schemeClr val="dk1"/>
              </a:buClr>
              <a:buSzPct val="181818"/>
              <a:buNone/>
            </a:pPr>
            <a:r>
              <a:rPr lang="en-US"/>
              <a:t> </a:t>
            </a:r>
            <a:endParaRPr/>
          </a:p>
        </p:txBody>
      </p:sp>
      <p:sp>
        <p:nvSpPr>
          <p:cNvPr id="173" name="Google Shape;173;p30"/>
          <p:cNvSpPr txBox="1"/>
          <p:nvPr/>
        </p:nvSpPr>
        <p:spPr>
          <a:xfrm>
            <a:off x="1037191" y="2640168"/>
            <a:ext cx="6860153" cy="21698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500" u="none" cap="none" strike="noStrike">
                <a:solidFill>
                  <a:srgbClr val="000000"/>
                </a:solidFill>
                <a:latin typeface="Arial"/>
                <a:ea typeface="Arial"/>
                <a:cs typeface="Arial"/>
                <a:sym typeface="Arial"/>
              </a:rPr>
              <a:t>Why Measure Chemical Oxygen Demand (COD)?</a:t>
            </a:r>
            <a:endParaRPr/>
          </a:p>
          <a:p>
            <a:pPr indent="0" lvl="0" marL="0" marR="0" rtl="0" algn="l">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500" u="none" cap="none" strike="noStrike">
                <a:solidFill>
                  <a:srgbClr val="000000"/>
                </a:solidFill>
                <a:latin typeface="Arial"/>
                <a:ea typeface="Arial"/>
                <a:cs typeface="Arial"/>
                <a:sym typeface="Arial"/>
              </a:rPr>
              <a:t>When treated wastewater is discharged into the environment, it can introduce pollution in the form of organic content to receiving waters. High levels of wastewater COD indicate concentrations of organics that can deplete dissolved oxygen in the water, leading to negative environmental and regulatory consequences. To help determine the impact and ultimately limit the amount of organic pollution in water, oxygen demand is an essential measurement.</a:t>
            </a:r>
            <a:endParaRPr b="0" i="0" sz="15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1"/>
          <p:cNvSpPr txBox="1"/>
          <p:nvPr>
            <p:ph idx="12" type="sldNum"/>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US" sz="1200" u="none" cap="none" strike="noStrike">
                <a:solidFill>
                  <a:srgbClr val="888888"/>
                </a:solidFill>
                <a:latin typeface="Calibri"/>
                <a:ea typeface="Calibri"/>
                <a:cs typeface="Calibri"/>
                <a:sym typeface="Calibri"/>
              </a:rPr>
              <a:t>‹#›</a:t>
            </a:fld>
            <a:endParaRPr b="0" i="0" sz="1200" u="none" cap="none" strike="noStrike">
              <a:solidFill>
                <a:srgbClr val="888888"/>
              </a:solidFill>
              <a:latin typeface="Calibri"/>
              <a:ea typeface="Calibri"/>
              <a:cs typeface="Calibri"/>
              <a:sym typeface="Calibri"/>
            </a:endParaRPr>
          </a:p>
        </p:txBody>
      </p:sp>
      <p:sp>
        <p:nvSpPr>
          <p:cNvPr id="179" name="Google Shape;179;p31"/>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Proprietary content</a:t>
            </a:r>
            <a:endParaRPr/>
          </a:p>
        </p:txBody>
      </p:sp>
      <p:sp>
        <p:nvSpPr>
          <p:cNvPr id="180" name="Google Shape;180;p31"/>
          <p:cNvSpPr txBox="1"/>
          <p:nvPr/>
        </p:nvSpPr>
        <p:spPr>
          <a:xfrm>
            <a:off x="1314450" y="176983"/>
            <a:ext cx="3712265" cy="5078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700" u="none" cap="none" strike="noStrike">
                <a:solidFill>
                  <a:srgbClr val="000000"/>
                </a:solidFill>
                <a:latin typeface="Arial"/>
                <a:ea typeface="Arial"/>
                <a:cs typeface="Arial"/>
                <a:sym typeface="Arial"/>
              </a:rPr>
              <a:t>WHAT is BOD</a:t>
            </a:r>
            <a:endParaRPr b="0" i="0" sz="2700" u="none" cap="none" strike="noStrike">
              <a:solidFill>
                <a:srgbClr val="000000"/>
              </a:solidFill>
              <a:latin typeface="Arial"/>
              <a:ea typeface="Arial"/>
              <a:cs typeface="Arial"/>
              <a:sym typeface="Arial"/>
            </a:endParaRPr>
          </a:p>
        </p:txBody>
      </p:sp>
      <p:sp>
        <p:nvSpPr>
          <p:cNvPr id="181" name="Google Shape;181;p31"/>
          <p:cNvSpPr txBox="1"/>
          <p:nvPr/>
        </p:nvSpPr>
        <p:spPr>
          <a:xfrm>
            <a:off x="1200150" y="739118"/>
            <a:ext cx="7018697" cy="19389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500" u="none" cap="none" strike="noStrike">
                <a:solidFill>
                  <a:srgbClr val="000000"/>
                </a:solidFill>
                <a:latin typeface="Arial"/>
                <a:ea typeface="Arial"/>
                <a:cs typeface="Arial"/>
                <a:sym typeface="Arial"/>
              </a:rPr>
              <a:t>What is Biological Oxygen Demand? (BOD)</a:t>
            </a:r>
            <a:endParaRPr/>
          </a:p>
          <a:p>
            <a:pPr indent="0" lvl="0" marL="0" marR="0" rtl="0" algn="l">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500" u="none" cap="none" strike="noStrike">
                <a:solidFill>
                  <a:srgbClr val="000000"/>
                </a:solidFill>
                <a:latin typeface="Arial"/>
                <a:ea typeface="Arial"/>
                <a:cs typeface="Arial"/>
                <a:sym typeface="Arial"/>
              </a:rPr>
              <a:t>Biological Oxygen Demand is defined as the amount of dissolved oxygen required by aerobic microorganisms to breakdown the organic materials in a sample of water at a specific temperature &amp; timeframe. In simpler words, The amount of oxygen needed by biological organisms such as bacteria in a given water sample for a breakdown of organic matter by oxidation process is called the Biochemical Oxygen Demand.</a:t>
            </a:r>
            <a:endParaRPr b="0" i="0" sz="15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2"/>
          <p:cNvSpPr txBox="1"/>
          <p:nvPr>
            <p:ph type="title"/>
          </p:nvPr>
        </p:nvSpPr>
        <p:spPr>
          <a:xfrm>
            <a:off x="655650" y="266701"/>
            <a:ext cx="7832700" cy="607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1100"/>
              <a:buFont typeface="Arial"/>
              <a:buNone/>
            </a:pPr>
            <a:r>
              <a:rPr b="1" lang="en-US" sz="3400">
                <a:solidFill>
                  <a:srgbClr val="245599"/>
                </a:solidFill>
                <a:latin typeface="Lora"/>
                <a:ea typeface="Lora"/>
                <a:cs typeface="Lora"/>
                <a:sym typeface="Lora"/>
              </a:rPr>
              <a:t>Measurement Principle</a:t>
            </a:r>
            <a:endParaRPr b="1" sz="3400">
              <a:latin typeface="Lora"/>
              <a:ea typeface="Lora"/>
              <a:cs typeface="Lora"/>
              <a:sym typeface="Lora"/>
            </a:endParaRPr>
          </a:p>
        </p:txBody>
      </p:sp>
      <p:sp>
        <p:nvSpPr>
          <p:cNvPr id="188" name="Google Shape;188;p32"/>
          <p:cNvSpPr txBox="1"/>
          <p:nvPr>
            <p:ph idx="1" type="body"/>
          </p:nvPr>
        </p:nvSpPr>
        <p:spPr>
          <a:xfrm>
            <a:off x="457200" y="874500"/>
            <a:ext cx="4269000" cy="4269000"/>
          </a:xfrm>
          <a:prstGeom prst="rect">
            <a:avLst/>
          </a:prstGeom>
          <a:noFill/>
          <a:ln>
            <a:noFill/>
          </a:ln>
        </p:spPr>
        <p:txBody>
          <a:bodyPr anchorCtr="0" anchor="t" bIns="45700" lIns="91425" spcFirstLastPara="1" rIns="91425" wrap="square" tIns="45700">
            <a:noAutofit/>
          </a:bodyPr>
          <a:lstStyle/>
          <a:p>
            <a:pPr indent="-361950" lvl="0" marL="457200" rtl="0" algn="just">
              <a:lnSpc>
                <a:spcPct val="100000"/>
              </a:lnSpc>
              <a:spcBef>
                <a:spcPts val="360"/>
              </a:spcBef>
              <a:spcAft>
                <a:spcPts val="0"/>
              </a:spcAft>
              <a:buSzPts val="2100"/>
              <a:buFont typeface="Lora"/>
              <a:buChar char="➢"/>
            </a:pPr>
            <a:r>
              <a:rPr lang="en-US" sz="2100">
                <a:latin typeface="Lora"/>
                <a:ea typeface="Lora"/>
                <a:cs typeface="Lora"/>
                <a:sym typeface="Lora"/>
              </a:rPr>
              <a:t>COD, TSS: The measurement principle is based on Beer – Lambert Law</a:t>
            </a:r>
            <a:endParaRPr sz="2100">
              <a:latin typeface="Lora"/>
              <a:ea typeface="Lora"/>
              <a:cs typeface="Lora"/>
              <a:sym typeface="Lora"/>
            </a:endParaRPr>
          </a:p>
          <a:p>
            <a:pPr indent="-361950" lvl="0" marL="457200" rtl="0" algn="just">
              <a:lnSpc>
                <a:spcPct val="100000"/>
              </a:lnSpc>
              <a:spcBef>
                <a:spcPts val="0"/>
              </a:spcBef>
              <a:spcAft>
                <a:spcPts val="0"/>
              </a:spcAft>
              <a:buSzPts val="2100"/>
              <a:buFont typeface="Lora"/>
              <a:buChar char="➢"/>
            </a:pPr>
            <a:r>
              <a:rPr lang="en-US" sz="2100">
                <a:latin typeface="Lora"/>
                <a:ea typeface="Lora"/>
                <a:cs typeface="Lora"/>
                <a:sym typeface="Lora"/>
              </a:rPr>
              <a:t>c = K log(I in/ I out)</a:t>
            </a:r>
            <a:endParaRPr sz="2100">
              <a:latin typeface="Lora"/>
              <a:ea typeface="Lora"/>
              <a:cs typeface="Lora"/>
              <a:sym typeface="Lora"/>
            </a:endParaRPr>
          </a:p>
          <a:p>
            <a:pPr indent="-361950" lvl="0" marL="457200" rtl="0" algn="just">
              <a:lnSpc>
                <a:spcPct val="100000"/>
              </a:lnSpc>
              <a:spcBef>
                <a:spcPts val="0"/>
              </a:spcBef>
              <a:spcAft>
                <a:spcPts val="0"/>
              </a:spcAft>
              <a:buSzPts val="2100"/>
              <a:buFont typeface="Lora"/>
              <a:buChar char="➢"/>
            </a:pPr>
            <a:r>
              <a:rPr lang="en-US" sz="2100">
                <a:latin typeface="Lora"/>
                <a:ea typeface="Lora"/>
                <a:cs typeface="Lora"/>
                <a:sym typeface="Lora"/>
              </a:rPr>
              <a:t>c = sample concentration</a:t>
            </a:r>
            <a:endParaRPr sz="2100">
              <a:latin typeface="Lora"/>
              <a:ea typeface="Lora"/>
              <a:cs typeface="Lora"/>
              <a:sym typeface="Lora"/>
            </a:endParaRPr>
          </a:p>
          <a:p>
            <a:pPr indent="-361950" lvl="0" marL="457200" rtl="0" algn="just">
              <a:lnSpc>
                <a:spcPct val="100000"/>
              </a:lnSpc>
              <a:spcBef>
                <a:spcPts val="0"/>
              </a:spcBef>
              <a:spcAft>
                <a:spcPts val="0"/>
              </a:spcAft>
              <a:buSzPts val="2100"/>
              <a:buFont typeface="Lora"/>
              <a:buChar char="➢"/>
            </a:pPr>
            <a:r>
              <a:rPr lang="en-US" sz="2100">
                <a:latin typeface="Lora"/>
                <a:ea typeface="Lora"/>
                <a:cs typeface="Lora"/>
                <a:sym typeface="Lora"/>
              </a:rPr>
              <a:t>K = absorption coefficient</a:t>
            </a:r>
            <a:endParaRPr sz="2100">
              <a:latin typeface="Lora"/>
              <a:ea typeface="Lora"/>
              <a:cs typeface="Lora"/>
              <a:sym typeface="Lora"/>
            </a:endParaRPr>
          </a:p>
          <a:p>
            <a:pPr indent="-361950" lvl="0" marL="457200" rtl="0" algn="just">
              <a:lnSpc>
                <a:spcPct val="100000"/>
              </a:lnSpc>
              <a:spcBef>
                <a:spcPts val="0"/>
              </a:spcBef>
              <a:spcAft>
                <a:spcPts val="0"/>
              </a:spcAft>
              <a:buSzPts val="2100"/>
              <a:buFont typeface="Lora"/>
              <a:buChar char="➢"/>
            </a:pPr>
            <a:r>
              <a:rPr lang="en-US" sz="2100">
                <a:latin typeface="Lora"/>
                <a:ea typeface="Lora"/>
                <a:cs typeface="Lora"/>
                <a:sym typeface="Lora"/>
              </a:rPr>
              <a:t>I in = light intensity at the input of the sample</a:t>
            </a:r>
            <a:endParaRPr sz="2100">
              <a:latin typeface="Lora"/>
              <a:ea typeface="Lora"/>
              <a:cs typeface="Lora"/>
              <a:sym typeface="Lora"/>
            </a:endParaRPr>
          </a:p>
          <a:p>
            <a:pPr indent="-361950" lvl="0" marL="457200" rtl="0" algn="just">
              <a:lnSpc>
                <a:spcPct val="100000"/>
              </a:lnSpc>
              <a:spcBef>
                <a:spcPts val="0"/>
              </a:spcBef>
              <a:spcAft>
                <a:spcPts val="0"/>
              </a:spcAft>
              <a:buSzPts val="2100"/>
              <a:buFont typeface="Lora"/>
              <a:buChar char="➢"/>
            </a:pPr>
            <a:r>
              <a:rPr lang="en-US" sz="2100">
                <a:latin typeface="Lora"/>
                <a:ea typeface="Lora"/>
                <a:cs typeface="Lora"/>
                <a:sym typeface="Lora"/>
              </a:rPr>
              <a:t>I out = light intensity at the output of the sample </a:t>
            </a:r>
            <a:endParaRPr sz="2100">
              <a:latin typeface="Lora"/>
              <a:ea typeface="Lora"/>
              <a:cs typeface="Lora"/>
              <a:sym typeface="Lora"/>
            </a:endParaRPr>
          </a:p>
          <a:p>
            <a:pPr indent="-361950" lvl="0" marL="457200" rtl="0" algn="just">
              <a:lnSpc>
                <a:spcPct val="100000"/>
              </a:lnSpc>
              <a:spcBef>
                <a:spcPts val="0"/>
              </a:spcBef>
              <a:spcAft>
                <a:spcPts val="0"/>
              </a:spcAft>
              <a:buSzPts val="2100"/>
              <a:buFont typeface="Lora"/>
              <a:buChar char="➢"/>
            </a:pPr>
            <a:r>
              <a:rPr lang="en-US" sz="2100">
                <a:latin typeface="Lora"/>
                <a:ea typeface="Lora"/>
                <a:cs typeface="Lora"/>
                <a:sym typeface="Lora"/>
              </a:rPr>
              <a:t>Compliant with CPCB Guideline, DIN 38404-3 Standard</a:t>
            </a:r>
            <a:endParaRPr sz="2100">
              <a:latin typeface="Lora"/>
              <a:ea typeface="Lora"/>
              <a:cs typeface="Lora"/>
              <a:sym typeface="Lora"/>
            </a:endParaRPr>
          </a:p>
          <a:p>
            <a:pPr indent="0" lvl="0" marL="457200" rtl="0" algn="just">
              <a:lnSpc>
                <a:spcPct val="107916"/>
              </a:lnSpc>
              <a:spcBef>
                <a:spcPts val="600"/>
              </a:spcBef>
              <a:spcAft>
                <a:spcPts val="1400"/>
              </a:spcAft>
              <a:buSzPts val="1800"/>
              <a:buNone/>
            </a:pPr>
            <a:r>
              <a:t/>
            </a:r>
            <a:endParaRPr sz="2200">
              <a:latin typeface="Lora"/>
              <a:ea typeface="Lora"/>
              <a:cs typeface="Lora"/>
              <a:sym typeface="Lora"/>
            </a:endParaRPr>
          </a:p>
        </p:txBody>
      </p:sp>
      <p:pic>
        <p:nvPicPr>
          <p:cNvPr id="189" name="Google Shape;189;p32"/>
          <p:cNvPicPr preferRelativeResize="0"/>
          <p:nvPr/>
        </p:nvPicPr>
        <p:blipFill rotWithShape="1">
          <a:blip r:embed="rId3">
            <a:alphaModFix/>
          </a:blip>
          <a:srcRect b="0" l="0" r="0" t="0"/>
          <a:stretch/>
        </p:blipFill>
        <p:spPr>
          <a:xfrm>
            <a:off x="4876450" y="1129550"/>
            <a:ext cx="3914425" cy="3615500"/>
          </a:xfrm>
          <a:prstGeom prst="rect">
            <a:avLst/>
          </a:prstGeom>
          <a:noFill/>
          <a:ln>
            <a:noFill/>
          </a:ln>
        </p:spPr>
      </p:pic>
      <p:pic>
        <p:nvPicPr>
          <p:cNvPr id="190" name="Google Shape;190;p32"/>
          <p:cNvPicPr preferRelativeResize="0"/>
          <p:nvPr/>
        </p:nvPicPr>
        <p:blipFill rotWithShape="1">
          <a:blip r:embed="rId4">
            <a:alphaModFix/>
          </a:blip>
          <a:srcRect b="0" l="0" r="0" t="0"/>
          <a:stretch/>
        </p:blipFill>
        <p:spPr>
          <a:xfrm>
            <a:off x="7114481" y="171450"/>
            <a:ext cx="1774713" cy="4995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pic>
        <p:nvPicPr>
          <p:cNvPr id="195" name="Google Shape;195;p33"/>
          <p:cNvPicPr preferRelativeResize="0"/>
          <p:nvPr/>
        </p:nvPicPr>
        <p:blipFill rotWithShape="1">
          <a:blip r:embed="rId3">
            <a:alphaModFix/>
          </a:blip>
          <a:srcRect b="0" l="0" r="0" t="0"/>
          <a:stretch/>
        </p:blipFill>
        <p:spPr>
          <a:xfrm>
            <a:off x="161925" y="152400"/>
            <a:ext cx="8603373" cy="4838700"/>
          </a:xfrm>
          <a:prstGeom prst="rect">
            <a:avLst/>
          </a:prstGeom>
          <a:noFill/>
          <a:ln>
            <a:noFill/>
          </a:ln>
        </p:spPr>
      </p:pic>
      <p:sp>
        <p:nvSpPr>
          <p:cNvPr id="196" name="Google Shape;196;p33"/>
          <p:cNvSpPr/>
          <p:nvPr/>
        </p:nvSpPr>
        <p:spPr>
          <a:xfrm>
            <a:off x="1321500" y="2797975"/>
            <a:ext cx="271200" cy="10287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33"/>
          <p:cNvSpPr txBox="1"/>
          <p:nvPr/>
        </p:nvSpPr>
        <p:spPr>
          <a:xfrm>
            <a:off x="6340775" y="3779775"/>
            <a:ext cx="1910700" cy="615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Arial"/>
                <a:ea typeface="Arial"/>
                <a:cs typeface="Arial"/>
                <a:sym typeface="Arial"/>
              </a:rPr>
              <a:t>Photodetector 1 (for COD measurement)</a:t>
            </a:r>
            <a:endParaRPr b="1" i="0" sz="1400" u="none" cap="none" strike="noStrike">
              <a:solidFill>
                <a:schemeClr val="lt1"/>
              </a:solidFill>
              <a:latin typeface="Arial"/>
              <a:ea typeface="Arial"/>
              <a:cs typeface="Arial"/>
              <a:sym typeface="Arial"/>
            </a:endParaRPr>
          </a:p>
        </p:txBody>
      </p:sp>
      <p:sp>
        <p:nvSpPr>
          <p:cNvPr id="198" name="Google Shape;198;p33"/>
          <p:cNvSpPr txBox="1"/>
          <p:nvPr/>
        </p:nvSpPr>
        <p:spPr>
          <a:xfrm>
            <a:off x="688350" y="3826675"/>
            <a:ext cx="15375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lt1"/>
                </a:solidFill>
                <a:latin typeface="Arial"/>
                <a:ea typeface="Arial"/>
                <a:cs typeface="Arial"/>
                <a:sym typeface="Arial"/>
              </a:rPr>
              <a:t>Light source</a:t>
            </a:r>
            <a:endParaRPr b="1" i="0" sz="1600" u="none" cap="none" strike="noStrike">
              <a:solidFill>
                <a:schemeClr val="lt1"/>
              </a:solidFill>
              <a:latin typeface="Arial"/>
              <a:ea typeface="Arial"/>
              <a:cs typeface="Arial"/>
              <a:sym typeface="Arial"/>
            </a:endParaRPr>
          </a:p>
        </p:txBody>
      </p:sp>
      <p:sp>
        <p:nvSpPr>
          <p:cNvPr id="199" name="Google Shape;199;p33"/>
          <p:cNvSpPr/>
          <p:nvPr/>
        </p:nvSpPr>
        <p:spPr>
          <a:xfrm>
            <a:off x="2712025" y="3171050"/>
            <a:ext cx="418200" cy="791400"/>
          </a:xfrm>
          <a:prstGeom prst="bentArrow">
            <a:avLst>
              <a:gd fmla="val 25000" name="adj1"/>
              <a:gd fmla="val 25000" name="adj2"/>
              <a:gd fmla="val 25000" name="adj3"/>
              <a:gd fmla="val 43750" name="adj4"/>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33"/>
          <p:cNvSpPr txBox="1"/>
          <p:nvPr/>
        </p:nvSpPr>
        <p:spPr>
          <a:xfrm>
            <a:off x="2135400" y="3872025"/>
            <a:ext cx="13566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lt1"/>
                </a:solidFill>
                <a:latin typeface="Arial"/>
                <a:ea typeface="Arial"/>
                <a:cs typeface="Arial"/>
                <a:sym typeface="Arial"/>
              </a:rPr>
              <a:t>Flow cell</a:t>
            </a:r>
            <a:endParaRPr b="1" i="0" sz="1600" u="none" cap="none" strike="noStrike">
              <a:solidFill>
                <a:schemeClr val="lt1"/>
              </a:solidFill>
              <a:latin typeface="Arial"/>
              <a:ea typeface="Arial"/>
              <a:cs typeface="Arial"/>
              <a:sym typeface="Arial"/>
            </a:endParaRPr>
          </a:p>
        </p:txBody>
      </p:sp>
      <p:sp>
        <p:nvSpPr>
          <p:cNvPr id="201" name="Google Shape;201;p33"/>
          <p:cNvSpPr/>
          <p:nvPr/>
        </p:nvSpPr>
        <p:spPr>
          <a:xfrm>
            <a:off x="4679025" y="3272875"/>
            <a:ext cx="271200" cy="9849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33"/>
          <p:cNvSpPr txBox="1"/>
          <p:nvPr/>
        </p:nvSpPr>
        <p:spPr>
          <a:xfrm>
            <a:off x="4136325" y="4190075"/>
            <a:ext cx="13566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lt1"/>
                </a:solidFill>
                <a:latin typeface="Arial"/>
                <a:ea typeface="Arial"/>
                <a:cs typeface="Arial"/>
                <a:sym typeface="Arial"/>
              </a:rPr>
              <a:t>Light guide (aperture)</a:t>
            </a:r>
            <a:endParaRPr b="1" i="0" sz="1600" u="none" cap="none" strike="noStrike">
              <a:solidFill>
                <a:schemeClr val="lt1"/>
              </a:solidFill>
              <a:latin typeface="Arial"/>
              <a:ea typeface="Arial"/>
              <a:cs typeface="Arial"/>
              <a:sym typeface="Arial"/>
            </a:endParaRPr>
          </a:p>
        </p:txBody>
      </p:sp>
      <p:sp>
        <p:nvSpPr>
          <p:cNvPr id="203" name="Google Shape;203;p33"/>
          <p:cNvSpPr/>
          <p:nvPr/>
        </p:nvSpPr>
        <p:spPr>
          <a:xfrm>
            <a:off x="7030300" y="2730150"/>
            <a:ext cx="486000" cy="1141800"/>
          </a:xfrm>
          <a:prstGeom prst="bentArrow">
            <a:avLst>
              <a:gd fmla="val 25000" name="adj1"/>
              <a:gd fmla="val 25000" name="adj2"/>
              <a:gd fmla="val 25000" name="adj3"/>
              <a:gd fmla="val 43750" name="adj4"/>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33"/>
          <p:cNvSpPr txBox="1"/>
          <p:nvPr/>
        </p:nvSpPr>
        <p:spPr>
          <a:xfrm>
            <a:off x="5772775" y="315225"/>
            <a:ext cx="2744700" cy="831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Arial"/>
                <a:ea typeface="Arial"/>
                <a:cs typeface="Arial"/>
                <a:sym typeface="Arial"/>
              </a:rPr>
              <a:t>Photodetector 2 (for TSS measurement and Turbidity compensation of COD)</a:t>
            </a:r>
            <a:endParaRPr b="1" i="0" sz="1400" u="none" cap="none" strike="noStrike">
              <a:solidFill>
                <a:schemeClr val="lt1"/>
              </a:solidFill>
              <a:latin typeface="Arial"/>
              <a:ea typeface="Arial"/>
              <a:cs typeface="Arial"/>
              <a:sym typeface="Arial"/>
            </a:endParaRPr>
          </a:p>
        </p:txBody>
      </p:sp>
      <p:sp>
        <p:nvSpPr>
          <p:cNvPr id="205" name="Google Shape;205;p33"/>
          <p:cNvSpPr/>
          <p:nvPr/>
        </p:nvSpPr>
        <p:spPr>
          <a:xfrm flipH="1" rot="-5400000">
            <a:off x="5368550" y="661625"/>
            <a:ext cx="508800" cy="576600"/>
          </a:xfrm>
          <a:prstGeom prst="bentArrow">
            <a:avLst>
              <a:gd fmla="val 25000" name="adj1"/>
              <a:gd fmla="val 25000" name="adj2"/>
              <a:gd fmla="val 25000" name="adj3"/>
              <a:gd fmla="val 43750" name="adj4"/>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pic>
        <p:nvPicPr>
          <p:cNvPr id="210" name="Google Shape;210;p34"/>
          <p:cNvPicPr preferRelativeResize="0"/>
          <p:nvPr/>
        </p:nvPicPr>
        <p:blipFill rotWithShape="1">
          <a:blip r:embed="rId3">
            <a:alphaModFix/>
          </a:blip>
          <a:srcRect b="0" l="0" r="0" t="0"/>
          <a:stretch/>
        </p:blipFill>
        <p:spPr>
          <a:xfrm>
            <a:off x="161925" y="152400"/>
            <a:ext cx="8603375" cy="48387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pic>
        <p:nvPicPr>
          <p:cNvPr id="215" name="Google Shape;215;p35"/>
          <p:cNvPicPr preferRelativeResize="0"/>
          <p:nvPr/>
        </p:nvPicPr>
        <p:blipFill rotWithShape="1">
          <a:blip r:embed="rId3">
            <a:alphaModFix/>
          </a:blip>
          <a:srcRect b="0" l="0" r="66859" t="-1605"/>
          <a:stretch/>
        </p:blipFill>
        <p:spPr>
          <a:xfrm rot="5400000">
            <a:off x="506275" y="1219175"/>
            <a:ext cx="1127100" cy="1561900"/>
          </a:xfrm>
          <a:prstGeom prst="rect">
            <a:avLst/>
          </a:prstGeom>
          <a:noFill/>
          <a:ln>
            <a:noFill/>
          </a:ln>
        </p:spPr>
      </p:pic>
      <p:sp>
        <p:nvSpPr>
          <p:cNvPr id="216" name="Google Shape;216;p35"/>
          <p:cNvSpPr/>
          <p:nvPr/>
        </p:nvSpPr>
        <p:spPr>
          <a:xfrm>
            <a:off x="2164875" y="1183475"/>
            <a:ext cx="1417200" cy="1676100"/>
          </a:xfrm>
          <a:prstGeom prst="rect">
            <a:avLst/>
          </a:prstGeom>
          <a:gradFill>
            <a:gsLst>
              <a:gs pos="0">
                <a:srgbClr val="3177EE"/>
              </a:gs>
              <a:gs pos="100000">
                <a:srgbClr val="113D8A"/>
              </a:gs>
            </a:gsLst>
            <a:lin ang="540001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17" name="Google Shape;217;p35"/>
          <p:cNvCxnSpPr>
            <a:stCxn id="216" idx="0"/>
          </p:cNvCxnSpPr>
          <p:nvPr/>
        </p:nvCxnSpPr>
        <p:spPr>
          <a:xfrm rot="-5400000">
            <a:off x="3418725" y="-199975"/>
            <a:ext cx="838200" cy="1928700"/>
          </a:xfrm>
          <a:prstGeom prst="bentConnector2">
            <a:avLst/>
          </a:prstGeom>
          <a:noFill/>
          <a:ln cap="flat" cmpd="sng" w="38100">
            <a:solidFill>
              <a:schemeClr val="dk2"/>
            </a:solidFill>
            <a:prstDash val="solid"/>
            <a:round/>
            <a:headEnd len="sm" w="sm" type="none"/>
            <a:tailEnd len="med" w="med" type="stealth"/>
          </a:ln>
        </p:spPr>
      </p:cxnSp>
      <p:cxnSp>
        <p:nvCxnSpPr>
          <p:cNvPr id="218" name="Google Shape;218;p35"/>
          <p:cNvCxnSpPr>
            <a:endCxn id="216" idx="2"/>
          </p:cNvCxnSpPr>
          <p:nvPr/>
        </p:nvCxnSpPr>
        <p:spPr>
          <a:xfrm rot="10800000">
            <a:off x="2873475" y="2859575"/>
            <a:ext cx="6000" cy="1713000"/>
          </a:xfrm>
          <a:prstGeom prst="straightConnector1">
            <a:avLst/>
          </a:prstGeom>
          <a:noFill/>
          <a:ln cap="flat" cmpd="sng" w="38100">
            <a:solidFill>
              <a:schemeClr val="dk2"/>
            </a:solidFill>
            <a:prstDash val="solid"/>
            <a:round/>
            <a:headEnd len="sm" w="sm" type="none"/>
            <a:tailEnd len="med" w="med" type="stealth"/>
          </a:ln>
        </p:spPr>
      </p:cxnSp>
      <p:sp>
        <p:nvSpPr>
          <p:cNvPr id="219" name="Google Shape;219;p35"/>
          <p:cNvSpPr/>
          <p:nvPr/>
        </p:nvSpPr>
        <p:spPr>
          <a:xfrm rot="199964">
            <a:off x="7815399" y="1530156"/>
            <a:ext cx="149653" cy="985737"/>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35"/>
          <p:cNvSpPr/>
          <p:nvPr/>
        </p:nvSpPr>
        <p:spPr>
          <a:xfrm rot="565272">
            <a:off x="4369973" y="981600"/>
            <a:ext cx="137454" cy="870052"/>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21" name="Google Shape;221;p35"/>
          <p:cNvCxnSpPr/>
          <p:nvPr/>
        </p:nvCxnSpPr>
        <p:spPr>
          <a:xfrm flipH="1" rot="10800000">
            <a:off x="1776825" y="1996825"/>
            <a:ext cx="5595000" cy="12300"/>
          </a:xfrm>
          <a:prstGeom prst="straightConnector1">
            <a:avLst/>
          </a:prstGeom>
          <a:noFill/>
          <a:ln cap="flat" cmpd="sng" w="9525">
            <a:solidFill>
              <a:srgbClr val="595959"/>
            </a:solidFill>
            <a:prstDash val="solid"/>
            <a:round/>
            <a:headEnd len="sm" w="sm" type="none"/>
            <a:tailEnd len="med" w="med" type="triangle"/>
          </a:ln>
        </p:spPr>
      </p:cxnSp>
      <p:pic>
        <p:nvPicPr>
          <p:cNvPr id="222" name="Google Shape;222;p35"/>
          <p:cNvPicPr preferRelativeResize="0"/>
          <p:nvPr/>
        </p:nvPicPr>
        <p:blipFill rotWithShape="1">
          <a:blip r:embed="rId4">
            <a:alphaModFix/>
          </a:blip>
          <a:srcRect b="0" l="0" r="0" t="0"/>
          <a:stretch/>
        </p:blipFill>
        <p:spPr>
          <a:xfrm>
            <a:off x="1776825" y="1923925"/>
            <a:ext cx="6009451" cy="152400"/>
          </a:xfrm>
          <a:prstGeom prst="rect">
            <a:avLst/>
          </a:prstGeom>
          <a:noFill/>
          <a:ln>
            <a:noFill/>
          </a:ln>
        </p:spPr>
      </p:pic>
      <p:cxnSp>
        <p:nvCxnSpPr>
          <p:cNvPr id="223" name="Google Shape;223;p35"/>
          <p:cNvCxnSpPr/>
          <p:nvPr/>
        </p:nvCxnSpPr>
        <p:spPr>
          <a:xfrm>
            <a:off x="7943469" y="2016869"/>
            <a:ext cx="672900" cy="29100"/>
          </a:xfrm>
          <a:prstGeom prst="straightConnector1">
            <a:avLst/>
          </a:prstGeom>
          <a:noFill/>
          <a:ln cap="flat" cmpd="sng" w="114300">
            <a:solidFill>
              <a:srgbClr val="1155CC"/>
            </a:solidFill>
            <a:prstDash val="solid"/>
            <a:round/>
            <a:headEnd len="sm" w="sm" type="none"/>
            <a:tailEnd len="sm" w="sm" type="none"/>
          </a:ln>
          <a:effectLst>
            <a:reflection blurRad="0" dir="5400000" dist="38100" endA="0" endPos="30000" fadeDir="5400012" kx="0" rotWithShape="0" algn="bl" stPos="0" sy="-100000" ky="0"/>
          </a:effectLst>
        </p:spPr>
      </p:cxnSp>
      <p:pic>
        <p:nvPicPr>
          <p:cNvPr id="224" name="Google Shape;224;p35"/>
          <p:cNvPicPr preferRelativeResize="0"/>
          <p:nvPr/>
        </p:nvPicPr>
        <p:blipFill rotWithShape="1">
          <a:blip r:embed="rId4">
            <a:alphaModFix/>
          </a:blip>
          <a:srcRect b="0" l="0" r="0" t="0"/>
          <a:stretch/>
        </p:blipFill>
        <p:spPr>
          <a:xfrm rot="474571">
            <a:off x="4498040" y="1628239"/>
            <a:ext cx="3331346" cy="152399"/>
          </a:xfrm>
          <a:prstGeom prst="rect">
            <a:avLst/>
          </a:prstGeom>
          <a:noFill/>
          <a:ln>
            <a:noFill/>
          </a:ln>
        </p:spPr>
      </p:pic>
      <p:cxnSp>
        <p:nvCxnSpPr>
          <p:cNvPr id="225" name="Google Shape;225;p35"/>
          <p:cNvCxnSpPr/>
          <p:nvPr/>
        </p:nvCxnSpPr>
        <p:spPr>
          <a:xfrm>
            <a:off x="3936050" y="1400875"/>
            <a:ext cx="416400" cy="31500"/>
          </a:xfrm>
          <a:prstGeom prst="straightConnector1">
            <a:avLst/>
          </a:prstGeom>
          <a:noFill/>
          <a:ln cap="flat" cmpd="sng" w="114300">
            <a:solidFill>
              <a:srgbClr val="00FF00"/>
            </a:solidFill>
            <a:prstDash val="solid"/>
            <a:round/>
            <a:headEnd len="sm" w="sm" type="none"/>
            <a:tailEnd len="sm" w="sm" type="none"/>
          </a:ln>
          <a:effectLst>
            <a:reflection blurRad="0" dir="5400000" dist="38100" endA="0" endPos="30000" fadeDir="5400012" kx="0" rotWithShape="0" algn="bl" stPos="0" sy="-100000" ky="0"/>
          </a:effectLst>
        </p:spPr>
      </p:cxnSp>
      <p:sp>
        <p:nvSpPr>
          <p:cNvPr id="226" name="Google Shape;226;p35"/>
          <p:cNvSpPr txBox="1"/>
          <p:nvPr/>
        </p:nvSpPr>
        <p:spPr>
          <a:xfrm>
            <a:off x="7202050" y="2455938"/>
            <a:ext cx="17187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00000"/>
                </a:solidFill>
                <a:latin typeface="Lora"/>
                <a:ea typeface="Lora"/>
                <a:cs typeface="Lora"/>
                <a:sym typeface="Lora"/>
              </a:rPr>
              <a:t>254 nm Bandpass filter</a:t>
            </a:r>
            <a:endParaRPr b="1" i="0" sz="1100" u="none" cap="none" strike="noStrike">
              <a:solidFill>
                <a:srgbClr val="000000"/>
              </a:solidFill>
              <a:latin typeface="Lora"/>
              <a:ea typeface="Lora"/>
              <a:cs typeface="Lora"/>
              <a:sym typeface="Lora"/>
            </a:endParaRPr>
          </a:p>
        </p:txBody>
      </p:sp>
      <p:sp>
        <p:nvSpPr>
          <p:cNvPr id="227" name="Google Shape;227;p35"/>
          <p:cNvSpPr txBox="1"/>
          <p:nvPr/>
        </p:nvSpPr>
        <p:spPr>
          <a:xfrm>
            <a:off x="4576850" y="784250"/>
            <a:ext cx="19287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00000"/>
                </a:solidFill>
                <a:latin typeface="Lora"/>
                <a:ea typeface="Lora"/>
                <a:cs typeface="Lora"/>
                <a:sym typeface="Lora"/>
              </a:rPr>
              <a:t>550 nm Bandpass filter</a:t>
            </a:r>
            <a:endParaRPr b="1" i="0" sz="1100" u="none" cap="none" strike="noStrike">
              <a:solidFill>
                <a:srgbClr val="000000"/>
              </a:solidFill>
              <a:latin typeface="Lora"/>
              <a:ea typeface="Lora"/>
              <a:cs typeface="Lora"/>
              <a:sym typeface="Lora"/>
            </a:endParaRPr>
          </a:p>
        </p:txBody>
      </p:sp>
      <p:sp>
        <p:nvSpPr>
          <p:cNvPr id="228" name="Google Shape;228;p35"/>
          <p:cNvSpPr txBox="1"/>
          <p:nvPr/>
        </p:nvSpPr>
        <p:spPr>
          <a:xfrm>
            <a:off x="3642950" y="2301050"/>
            <a:ext cx="10026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00000"/>
                </a:solidFill>
                <a:latin typeface="Lora"/>
                <a:ea typeface="Lora"/>
                <a:cs typeface="Lora"/>
                <a:sym typeface="Lora"/>
              </a:rPr>
              <a:t>Flow cell</a:t>
            </a:r>
            <a:endParaRPr b="1" i="0" sz="1100" u="none" cap="none" strike="noStrike">
              <a:solidFill>
                <a:srgbClr val="000000"/>
              </a:solidFill>
              <a:latin typeface="Lora"/>
              <a:ea typeface="Lora"/>
              <a:cs typeface="Lora"/>
              <a:sym typeface="Lora"/>
            </a:endParaRPr>
          </a:p>
        </p:txBody>
      </p:sp>
      <p:sp>
        <p:nvSpPr>
          <p:cNvPr id="229" name="Google Shape;229;p35"/>
          <p:cNvSpPr txBox="1"/>
          <p:nvPr/>
        </p:nvSpPr>
        <p:spPr>
          <a:xfrm>
            <a:off x="2375175" y="4572575"/>
            <a:ext cx="14685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00000"/>
                </a:solidFill>
                <a:latin typeface="Lora"/>
                <a:ea typeface="Lora"/>
                <a:cs typeface="Lora"/>
                <a:sym typeface="Lora"/>
              </a:rPr>
              <a:t>Sample inlet</a:t>
            </a:r>
            <a:endParaRPr b="1" i="0" sz="1100" u="none" cap="none" strike="noStrike">
              <a:solidFill>
                <a:srgbClr val="000000"/>
              </a:solidFill>
              <a:latin typeface="Lora"/>
              <a:ea typeface="Lora"/>
              <a:cs typeface="Lora"/>
              <a:sym typeface="Lora"/>
            </a:endParaRPr>
          </a:p>
        </p:txBody>
      </p:sp>
      <p:sp>
        <p:nvSpPr>
          <p:cNvPr id="230" name="Google Shape;230;p35"/>
          <p:cNvSpPr txBox="1"/>
          <p:nvPr/>
        </p:nvSpPr>
        <p:spPr>
          <a:xfrm>
            <a:off x="4854825" y="168750"/>
            <a:ext cx="1632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00000"/>
                </a:solidFill>
                <a:latin typeface="Lora"/>
                <a:ea typeface="Lora"/>
                <a:cs typeface="Lora"/>
                <a:sym typeface="Lora"/>
              </a:rPr>
              <a:t>Sample outlet</a:t>
            </a:r>
            <a:endParaRPr b="1" i="0" sz="1100" u="none" cap="none" strike="noStrike">
              <a:solidFill>
                <a:srgbClr val="000000"/>
              </a:solidFill>
              <a:latin typeface="Lora"/>
              <a:ea typeface="Lora"/>
              <a:cs typeface="Lora"/>
              <a:sym typeface="Lora"/>
            </a:endParaRPr>
          </a:p>
        </p:txBody>
      </p:sp>
      <p:cxnSp>
        <p:nvCxnSpPr>
          <p:cNvPr id="231" name="Google Shape;231;p35"/>
          <p:cNvCxnSpPr>
            <a:stCxn id="232" idx="2"/>
          </p:cNvCxnSpPr>
          <p:nvPr/>
        </p:nvCxnSpPr>
        <p:spPr>
          <a:xfrm flipH="1">
            <a:off x="8201700" y="868475"/>
            <a:ext cx="161400" cy="1079700"/>
          </a:xfrm>
          <a:prstGeom prst="straightConnector1">
            <a:avLst/>
          </a:prstGeom>
          <a:noFill/>
          <a:ln cap="flat" cmpd="sng" w="9525">
            <a:solidFill>
              <a:schemeClr val="dk2"/>
            </a:solidFill>
            <a:prstDash val="solid"/>
            <a:round/>
            <a:headEnd len="sm" w="sm" type="none"/>
            <a:tailEnd len="med" w="med" type="triangle"/>
          </a:ln>
        </p:spPr>
      </p:cxnSp>
      <p:sp>
        <p:nvSpPr>
          <p:cNvPr id="232" name="Google Shape;232;p35"/>
          <p:cNvSpPr txBox="1"/>
          <p:nvPr/>
        </p:nvSpPr>
        <p:spPr>
          <a:xfrm>
            <a:off x="7582200" y="345275"/>
            <a:ext cx="15618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00000"/>
                </a:solidFill>
                <a:latin typeface="Lora"/>
                <a:ea typeface="Lora"/>
                <a:cs typeface="Lora"/>
                <a:sym typeface="Lora"/>
              </a:rPr>
              <a:t>Only invisible UV light at 254 nm</a:t>
            </a:r>
            <a:endParaRPr b="1" i="0" sz="1100" u="none" cap="none" strike="noStrike">
              <a:solidFill>
                <a:srgbClr val="000000"/>
              </a:solidFill>
              <a:latin typeface="Lora"/>
              <a:ea typeface="Lora"/>
              <a:cs typeface="Lora"/>
              <a:sym typeface="Lora"/>
            </a:endParaRPr>
          </a:p>
        </p:txBody>
      </p:sp>
      <p:sp>
        <p:nvSpPr>
          <p:cNvPr id="233" name="Google Shape;233;p35"/>
          <p:cNvSpPr txBox="1"/>
          <p:nvPr/>
        </p:nvSpPr>
        <p:spPr>
          <a:xfrm>
            <a:off x="3665938" y="389875"/>
            <a:ext cx="753600" cy="861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00000"/>
                </a:solidFill>
                <a:latin typeface="Lora"/>
                <a:ea typeface="Lora"/>
                <a:cs typeface="Lora"/>
                <a:sym typeface="Lora"/>
              </a:rPr>
              <a:t>Only green light at 550 nm</a:t>
            </a:r>
            <a:endParaRPr b="1" i="0" sz="1100" u="none" cap="none" strike="noStrike">
              <a:solidFill>
                <a:srgbClr val="000000"/>
              </a:solidFill>
              <a:latin typeface="Lora"/>
              <a:ea typeface="Lora"/>
              <a:cs typeface="Lora"/>
              <a:sym typeface="Lora"/>
            </a:endParaRPr>
          </a:p>
        </p:txBody>
      </p:sp>
      <p:sp>
        <p:nvSpPr>
          <p:cNvPr id="234" name="Google Shape;234;p35"/>
          <p:cNvSpPr txBox="1"/>
          <p:nvPr/>
        </p:nvSpPr>
        <p:spPr>
          <a:xfrm>
            <a:off x="205700" y="2655050"/>
            <a:ext cx="17187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00000"/>
                </a:solidFill>
                <a:latin typeface="Lora"/>
                <a:ea typeface="Lora"/>
                <a:cs typeface="Lora"/>
                <a:sym typeface="Lora"/>
              </a:rPr>
              <a:t>Xenon Flash Lamp</a:t>
            </a:r>
            <a:endParaRPr b="1" i="0" sz="1100" u="none" cap="none" strike="noStrike">
              <a:solidFill>
                <a:srgbClr val="000000"/>
              </a:solidFill>
              <a:latin typeface="Lora"/>
              <a:ea typeface="Lora"/>
              <a:cs typeface="Lora"/>
              <a:sym typeface="Lora"/>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00000"/>
                </a:solidFill>
                <a:latin typeface="Lora"/>
                <a:ea typeface="Lora"/>
                <a:cs typeface="Lora"/>
                <a:sym typeface="Lora"/>
              </a:rPr>
              <a:t>(white flashing bulb)</a:t>
            </a:r>
            <a:endParaRPr b="1" i="0" sz="1100" u="none" cap="none" strike="noStrike">
              <a:solidFill>
                <a:srgbClr val="000000"/>
              </a:solidFill>
              <a:latin typeface="Lora"/>
              <a:ea typeface="Lora"/>
              <a:cs typeface="Lora"/>
              <a:sym typeface="Lora"/>
            </a:endParaRPr>
          </a:p>
        </p:txBody>
      </p:sp>
      <p:pic>
        <p:nvPicPr>
          <p:cNvPr id="235" name="Google Shape;235;p35"/>
          <p:cNvPicPr preferRelativeResize="0"/>
          <p:nvPr/>
        </p:nvPicPr>
        <p:blipFill rotWithShape="1">
          <a:blip r:embed="rId5">
            <a:alphaModFix/>
          </a:blip>
          <a:srcRect b="0" l="0" r="0" t="0"/>
          <a:stretch/>
        </p:blipFill>
        <p:spPr>
          <a:xfrm>
            <a:off x="4156775" y="3477489"/>
            <a:ext cx="4763974" cy="1458835"/>
          </a:xfrm>
          <a:prstGeom prst="rect">
            <a:avLst/>
          </a:prstGeom>
          <a:noFill/>
          <a:ln>
            <a:noFill/>
          </a:ln>
        </p:spPr>
      </p:pic>
      <p:cxnSp>
        <p:nvCxnSpPr>
          <p:cNvPr id="236" name="Google Shape;236;p35"/>
          <p:cNvCxnSpPr/>
          <p:nvPr/>
        </p:nvCxnSpPr>
        <p:spPr>
          <a:xfrm flipH="1">
            <a:off x="4410350" y="2032950"/>
            <a:ext cx="4099200" cy="1677600"/>
          </a:xfrm>
          <a:prstGeom prst="curvedConnector3">
            <a:avLst>
              <a:gd fmla="val 50000" name="adj1"/>
            </a:avLst>
          </a:prstGeom>
          <a:noFill/>
          <a:ln cap="flat" cmpd="sng" w="9525">
            <a:solidFill>
              <a:schemeClr val="accent1"/>
            </a:solidFill>
            <a:prstDash val="solid"/>
            <a:round/>
            <a:headEnd len="sm" w="sm" type="none"/>
            <a:tailEnd len="med" w="med" type="triangle"/>
          </a:ln>
        </p:spPr>
      </p:cxnSp>
      <p:cxnSp>
        <p:nvCxnSpPr>
          <p:cNvPr id="237" name="Google Shape;237;p35"/>
          <p:cNvCxnSpPr/>
          <p:nvPr/>
        </p:nvCxnSpPr>
        <p:spPr>
          <a:xfrm flipH="1" rot="-5400000">
            <a:off x="4015800" y="1494300"/>
            <a:ext cx="2310900" cy="2277300"/>
          </a:xfrm>
          <a:prstGeom prst="curvedConnector3">
            <a:avLst>
              <a:gd fmla="val 50000" name="adj1"/>
            </a:avLst>
          </a:prstGeom>
          <a:noFill/>
          <a:ln cap="flat" cmpd="sng" w="9525">
            <a:solidFill>
              <a:srgbClr val="6AA84F"/>
            </a:solidFill>
            <a:prstDash val="solid"/>
            <a:round/>
            <a:headEnd len="sm" w="sm" type="none"/>
            <a:tailEnd len="med" w="med" type="triangl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6"/>
          <p:cNvSpPr txBox="1"/>
          <p:nvPr>
            <p:ph type="title"/>
          </p:nvPr>
        </p:nvSpPr>
        <p:spPr>
          <a:xfrm>
            <a:off x="311700" y="57217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b="1" lang="en-US" sz="2700">
                <a:solidFill>
                  <a:srgbClr val="245599"/>
                </a:solidFill>
                <a:latin typeface="Lora"/>
                <a:ea typeface="Lora"/>
                <a:cs typeface="Lora"/>
                <a:sym typeface="Lora"/>
              </a:rPr>
              <a:t>Hard-Coated vs. Traditional-Coated Optical Filter</a:t>
            </a:r>
            <a:endParaRPr b="1" sz="2700">
              <a:latin typeface="Lora"/>
              <a:ea typeface="Lora"/>
              <a:cs typeface="Lora"/>
              <a:sym typeface="Lora"/>
            </a:endParaRPr>
          </a:p>
        </p:txBody>
      </p:sp>
      <p:pic>
        <p:nvPicPr>
          <p:cNvPr id="244" name="Google Shape;244;p36"/>
          <p:cNvPicPr preferRelativeResize="0"/>
          <p:nvPr/>
        </p:nvPicPr>
        <p:blipFill rotWithShape="1">
          <a:blip r:embed="rId3">
            <a:alphaModFix/>
          </a:blip>
          <a:srcRect b="0" l="0" r="0" t="0"/>
          <a:stretch/>
        </p:blipFill>
        <p:spPr>
          <a:xfrm>
            <a:off x="7114481" y="171450"/>
            <a:ext cx="1774713" cy="499575"/>
          </a:xfrm>
          <a:prstGeom prst="rect">
            <a:avLst/>
          </a:prstGeom>
          <a:noFill/>
          <a:ln>
            <a:noFill/>
          </a:ln>
        </p:spPr>
      </p:pic>
      <p:pic>
        <p:nvPicPr>
          <p:cNvPr id="245" name="Google Shape;245;p36"/>
          <p:cNvPicPr preferRelativeResize="0"/>
          <p:nvPr/>
        </p:nvPicPr>
        <p:blipFill rotWithShape="1">
          <a:blip r:embed="rId4">
            <a:alphaModFix/>
          </a:blip>
          <a:srcRect b="0" l="1536" r="4213" t="3984"/>
          <a:stretch/>
        </p:blipFill>
        <p:spPr>
          <a:xfrm>
            <a:off x="1371850" y="1256700"/>
            <a:ext cx="5475651" cy="3886798"/>
          </a:xfrm>
          <a:prstGeom prst="rect">
            <a:avLst/>
          </a:prstGeom>
          <a:noFill/>
          <a:ln>
            <a:noFill/>
          </a:ln>
        </p:spPr>
      </p:pic>
      <p:sp>
        <p:nvSpPr>
          <p:cNvPr id="246" name="Google Shape;246;p36"/>
          <p:cNvSpPr/>
          <p:nvPr/>
        </p:nvSpPr>
        <p:spPr>
          <a:xfrm flipH="1">
            <a:off x="6456275" y="1706500"/>
            <a:ext cx="1598700" cy="670500"/>
          </a:xfrm>
          <a:prstGeom prst="rightArrow">
            <a:avLst>
              <a:gd fmla="val 50000" name="adj1"/>
              <a:gd fmla="val 50000" name="adj2"/>
            </a:avLst>
          </a:prstGeom>
          <a:solidFill>
            <a:srgbClr val="EEFF4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Hard-Coated</a:t>
            </a:r>
            <a:endParaRPr b="0" i="0" sz="1400" u="none" cap="none" strike="noStrike">
              <a:solidFill>
                <a:srgbClr val="000000"/>
              </a:solidFill>
              <a:latin typeface="Arial"/>
              <a:ea typeface="Arial"/>
              <a:cs typeface="Arial"/>
              <a:sym typeface="Arial"/>
            </a:endParaRPr>
          </a:p>
        </p:txBody>
      </p:sp>
      <p:sp>
        <p:nvSpPr>
          <p:cNvPr id="247" name="Google Shape;247;p36"/>
          <p:cNvSpPr/>
          <p:nvPr/>
        </p:nvSpPr>
        <p:spPr>
          <a:xfrm flipH="1">
            <a:off x="6456275" y="3245275"/>
            <a:ext cx="1912800" cy="670500"/>
          </a:xfrm>
          <a:prstGeom prst="rightArrow">
            <a:avLst>
              <a:gd fmla="val 50000" name="adj1"/>
              <a:gd fmla="val 50000" name="adj2"/>
            </a:avLst>
          </a:prstGeom>
          <a:solidFill>
            <a:srgbClr val="EEFF4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Traditional-Coated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pic>
        <p:nvPicPr>
          <p:cNvPr id="253" name="Google Shape;253;p37"/>
          <p:cNvPicPr preferRelativeResize="0"/>
          <p:nvPr/>
        </p:nvPicPr>
        <p:blipFill rotWithShape="1">
          <a:blip r:embed="rId3">
            <a:alphaModFix/>
          </a:blip>
          <a:srcRect b="0" l="0" r="0" t="0"/>
          <a:stretch/>
        </p:blipFill>
        <p:spPr>
          <a:xfrm>
            <a:off x="1960200" y="479125"/>
            <a:ext cx="5223597" cy="3917698"/>
          </a:xfrm>
          <a:prstGeom prst="rect">
            <a:avLst/>
          </a:prstGeom>
          <a:noFill/>
          <a:ln>
            <a:noFill/>
          </a:ln>
        </p:spPr>
      </p:pic>
      <p:sp>
        <p:nvSpPr>
          <p:cNvPr id="254" name="Google Shape;254;p37"/>
          <p:cNvSpPr txBox="1"/>
          <p:nvPr/>
        </p:nvSpPr>
        <p:spPr>
          <a:xfrm>
            <a:off x="1243200" y="4560800"/>
            <a:ext cx="66576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Lora"/>
                <a:ea typeface="Lora"/>
                <a:cs typeface="Lora"/>
                <a:sym typeface="Lora"/>
              </a:rPr>
              <a:t>HASS</a:t>
            </a:r>
            <a:r>
              <a:rPr b="0" i="1" lang="en-US" sz="2000" u="none" cap="none" strike="noStrike">
                <a:solidFill>
                  <a:srgbClr val="000000"/>
                </a:solidFill>
                <a:latin typeface="Lora"/>
                <a:ea typeface="Lora"/>
                <a:cs typeface="Lora"/>
                <a:sym typeface="Lora"/>
              </a:rPr>
              <a:t> </a:t>
            </a:r>
            <a:r>
              <a:rPr b="0" i="1" lang="en-US" sz="2000" u="none" cap="none" strike="noStrike">
                <a:solidFill>
                  <a:schemeClr val="dk1"/>
                </a:solidFill>
                <a:latin typeface="Lora"/>
                <a:ea typeface="Lora"/>
                <a:cs typeface="Lora"/>
                <a:sym typeface="Lora"/>
              </a:rPr>
              <a:t>(Highly Accelerated Stress Screening) </a:t>
            </a:r>
            <a:r>
              <a:rPr b="0" i="0" lang="en-US" sz="2000" u="none" cap="none" strike="noStrike">
                <a:solidFill>
                  <a:schemeClr val="dk1"/>
                </a:solidFill>
                <a:latin typeface="Lora"/>
                <a:ea typeface="Lora"/>
                <a:cs typeface="Lora"/>
                <a:sym typeface="Lora"/>
              </a:rPr>
              <a:t>Setup</a:t>
            </a:r>
            <a:endParaRPr b="0" i="0" sz="2000" u="none" cap="none" strike="noStrike">
              <a:solidFill>
                <a:srgbClr val="000000"/>
              </a:solidFill>
              <a:latin typeface="Lora"/>
              <a:ea typeface="Lora"/>
              <a:cs typeface="Lora"/>
              <a:sym typeface="Lora"/>
            </a:endParaRPr>
          </a:p>
        </p:txBody>
      </p:sp>
      <p:pic>
        <p:nvPicPr>
          <p:cNvPr id="255" name="Google Shape;255;p37"/>
          <p:cNvPicPr preferRelativeResize="0"/>
          <p:nvPr/>
        </p:nvPicPr>
        <p:blipFill rotWithShape="1">
          <a:blip r:embed="rId4">
            <a:alphaModFix/>
          </a:blip>
          <a:srcRect b="0" l="0" r="0" t="0"/>
          <a:stretch/>
        </p:blipFill>
        <p:spPr>
          <a:xfrm>
            <a:off x="7114481" y="171450"/>
            <a:ext cx="1774713" cy="4995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pic>
        <p:nvPicPr>
          <p:cNvPr id="261" name="Google Shape;261;p38"/>
          <p:cNvPicPr preferRelativeResize="0"/>
          <p:nvPr/>
        </p:nvPicPr>
        <p:blipFill rotWithShape="1">
          <a:blip r:embed="rId3">
            <a:alphaModFix/>
          </a:blip>
          <a:srcRect b="775" l="1603" r="0" t="1108"/>
          <a:stretch/>
        </p:blipFill>
        <p:spPr>
          <a:xfrm>
            <a:off x="1938338" y="1274150"/>
            <a:ext cx="5267325" cy="3781425"/>
          </a:xfrm>
          <a:prstGeom prst="rect">
            <a:avLst/>
          </a:prstGeom>
          <a:noFill/>
          <a:ln>
            <a:noFill/>
          </a:ln>
        </p:spPr>
      </p:pic>
      <p:sp>
        <p:nvSpPr>
          <p:cNvPr id="262" name="Google Shape;262;p38"/>
          <p:cNvSpPr txBox="1"/>
          <p:nvPr>
            <p:ph type="title"/>
          </p:nvPr>
        </p:nvSpPr>
        <p:spPr>
          <a:xfrm>
            <a:off x="311700" y="560600"/>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US" sz="2700">
                <a:solidFill>
                  <a:srgbClr val="245599"/>
                </a:solidFill>
                <a:latin typeface="Lora"/>
                <a:ea typeface="Lora"/>
                <a:cs typeface="Lora"/>
                <a:sym typeface="Lora"/>
              </a:rPr>
              <a:t>How to Assemble the Optical Filter in the PD Holder</a:t>
            </a:r>
            <a:endParaRPr sz="2700">
              <a:latin typeface="Lora"/>
              <a:ea typeface="Lora"/>
              <a:cs typeface="Lora"/>
              <a:sym typeface="Lora"/>
            </a:endParaRPr>
          </a:p>
        </p:txBody>
      </p:sp>
      <p:pic>
        <p:nvPicPr>
          <p:cNvPr id="263" name="Google Shape;263;p38"/>
          <p:cNvPicPr preferRelativeResize="0"/>
          <p:nvPr/>
        </p:nvPicPr>
        <p:blipFill rotWithShape="1">
          <a:blip r:embed="rId4">
            <a:alphaModFix/>
          </a:blip>
          <a:srcRect b="0" l="0" r="0" t="0"/>
          <a:stretch/>
        </p:blipFill>
        <p:spPr>
          <a:xfrm>
            <a:off x="7114481" y="171450"/>
            <a:ext cx="1774713" cy="4995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n-US" sz="3000">
                <a:solidFill>
                  <a:srgbClr val="245599"/>
                </a:solidFill>
                <a:latin typeface="Lora"/>
                <a:ea typeface="Lora"/>
                <a:cs typeface="Lora"/>
                <a:sym typeface="Lora"/>
              </a:rPr>
              <a:t>Tools for Optical Alignment</a:t>
            </a:r>
            <a:endParaRPr b="1" sz="3000">
              <a:latin typeface="Lora"/>
              <a:ea typeface="Lora"/>
              <a:cs typeface="Lora"/>
              <a:sym typeface="Lora"/>
            </a:endParaRPr>
          </a:p>
        </p:txBody>
      </p:sp>
      <p:pic>
        <p:nvPicPr>
          <p:cNvPr id="270" name="Google Shape;270;p39"/>
          <p:cNvPicPr preferRelativeResize="0"/>
          <p:nvPr/>
        </p:nvPicPr>
        <p:blipFill rotWithShape="1">
          <a:blip r:embed="rId3">
            <a:alphaModFix/>
          </a:blip>
          <a:srcRect b="0" l="0" r="0" t="0"/>
          <a:stretch/>
        </p:blipFill>
        <p:spPr>
          <a:xfrm>
            <a:off x="7114481" y="171450"/>
            <a:ext cx="1774713" cy="499575"/>
          </a:xfrm>
          <a:prstGeom prst="rect">
            <a:avLst/>
          </a:prstGeom>
          <a:noFill/>
          <a:ln>
            <a:noFill/>
          </a:ln>
        </p:spPr>
      </p:pic>
      <p:pic>
        <p:nvPicPr>
          <p:cNvPr descr="image (3).png" id="271" name="Google Shape;271;p39"/>
          <p:cNvPicPr preferRelativeResize="0"/>
          <p:nvPr/>
        </p:nvPicPr>
        <p:blipFill rotWithShape="1">
          <a:blip r:embed="rId4">
            <a:alphaModFix/>
          </a:blip>
          <a:srcRect b="0" l="0" r="0" t="0"/>
          <a:stretch/>
        </p:blipFill>
        <p:spPr>
          <a:xfrm>
            <a:off x="3165750" y="1228825"/>
            <a:ext cx="4950950" cy="3799175"/>
          </a:xfrm>
          <a:prstGeom prst="rect">
            <a:avLst/>
          </a:prstGeom>
          <a:noFill/>
          <a:ln>
            <a:noFill/>
          </a:ln>
        </p:spPr>
      </p:pic>
      <p:grpSp>
        <p:nvGrpSpPr>
          <p:cNvPr id="272" name="Google Shape;272;p39"/>
          <p:cNvGrpSpPr/>
          <p:nvPr/>
        </p:nvGrpSpPr>
        <p:grpSpPr>
          <a:xfrm>
            <a:off x="1432150" y="3233875"/>
            <a:ext cx="1225000" cy="1253375"/>
            <a:chOff x="900450" y="3222300"/>
            <a:chExt cx="1225000" cy="1253375"/>
          </a:xfrm>
        </p:grpSpPr>
        <p:grpSp>
          <p:nvGrpSpPr>
            <p:cNvPr id="273" name="Google Shape;273;p39"/>
            <p:cNvGrpSpPr/>
            <p:nvPr/>
          </p:nvGrpSpPr>
          <p:grpSpPr>
            <a:xfrm>
              <a:off x="1212400" y="3439550"/>
              <a:ext cx="739800" cy="728400"/>
              <a:chOff x="1212400" y="3231500"/>
              <a:chExt cx="739800" cy="728400"/>
            </a:xfrm>
          </p:grpSpPr>
          <p:cxnSp>
            <p:nvCxnSpPr>
              <p:cNvPr id="274" name="Google Shape;274;p39"/>
              <p:cNvCxnSpPr/>
              <p:nvPr/>
            </p:nvCxnSpPr>
            <p:spPr>
              <a:xfrm flipH="1" rot="10800000">
                <a:off x="1212400" y="3936800"/>
                <a:ext cx="739800" cy="11400"/>
              </a:xfrm>
              <a:prstGeom prst="straightConnector1">
                <a:avLst/>
              </a:prstGeom>
              <a:noFill/>
              <a:ln cap="flat" cmpd="sng" w="9525">
                <a:solidFill>
                  <a:schemeClr val="dk2"/>
                </a:solidFill>
                <a:prstDash val="solid"/>
                <a:round/>
                <a:headEnd len="sm" w="sm" type="none"/>
                <a:tailEnd len="med" w="med" type="triangle"/>
              </a:ln>
            </p:spPr>
          </p:cxnSp>
          <p:cxnSp>
            <p:nvCxnSpPr>
              <p:cNvPr id="275" name="Google Shape;275;p39"/>
              <p:cNvCxnSpPr/>
              <p:nvPr/>
            </p:nvCxnSpPr>
            <p:spPr>
              <a:xfrm rot="10800000">
                <a:off x="1212400" y="3231500"/>
                <a:ext cx="0" cy="728400"/>
              </a:xfrm>
              <a:prstGeom prst="straightConnector1">
                <a:avLst/>
              </a:prstGeom>
              <a:noFill/>
              <a:ln cap="flat" cmpd="sng" w="9525">
                <a:solidFill>
                  <a:schemeClr val="dk2"/>
                </a:solidFill>
                <a:prstDash val="solid"/>
                <a:round/>
                <a:headEnd len="sm" w="sm" type="none"/>
                <a:tailEnd len="med" w="med" type="triangle"/>
              </a:ln>
            </p:spPr>
          </p:cxnSp>
        </p:grpSp>
        <p:sp>
          <p:nvSpPr>
            <p:cNvPr id="276" name="Google Shape;276;p39"/>
            <p:cNvSpPr txBox="1"/>
            <p:nvPr/>
          </p:nvSpPr>
          <p:spPr>
            <a:xfrm>
              <a:off x="1767250" y="4075475"/>
              <a:ext cx="3582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x</a:t>
              </a:r>
              <a:endParaRPr b="0" i="0" sz="1400" u="none" cap="none" strike="noStrike">
                <a:solidFill>
                  <a:srgbClr val="000000"/>
                </a:solidFill>
                <a:latin typeface="Arial"/>
                <a:ea typeface="Arial"/>
                <a:cs typeface="Arial"/>
                <a:sym typeface="Arial"/>
              </a:endParaRPr>
            </a:p>
          </p:txBody>
        </p:sp>
        <p:sp>
          <p:nvSpPr>
            <p:cNvPr id="277" name="Google Shape;277;p39"/>
            <p:cNvSpPr txBox="1"/>
            <p:nvPr/>
          </p:nvSpPr>
          <p:spPr>
            <a:xfrm>
              <a:off x="900450" y="3222300"/>
              <a:ext cx="3582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y</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pic>
        <p:nvPicPr>
          <p:cNvPr descr="image (6).png" id="283" name="Google Shape;283;p40"/>
          <p:cNvPicPr preferRelativeResize="0"/>
          <p:nvPr/>
        </p:nvPicPr>
        <p:blipFill rotWithShape="1">
          <a:blip r:embed="rId3">
            <a:alphaModFix/>
          </a:blip>
          <a:srcRect b="0" l="0" r="0" t="0"/>
          <a:stretch/>
        </p:blipFill>
        <p:spPr>
          <a:xfrm>
            <a:off x="152400" y="152400"/>
            <a:ext cx="4327901" cy="3009825"/>
          </a:xfrm>
          <a:prstGeom prst="rect">
            <a:avLst/>
          </a:prstGeom>
          <a:noFill/>
          <a:ln>
            <a:noFill/>
          </a:ln>
        </p:spPr>
      </p:pic>
      <p:pic>
        <p:nvPicPr>
          <p:cNvPr descr="image (7).png" id="284" name="Google Shape;284;p40"/>
          <p:cNvPicPr preferRelativeResize="0"/>
          <p:nvPr/>
        </p:nvPicPr>
        <p:blipFill rotWithShape="1">
          <a:blip r:embed="rId4">
            <a:alphaModFix/>
          </a:blip>
          <a:srcRect b="0" l="0" r="0" t="0"/>
          <a:stretch/>
        </p:blipFill>
        <p:spPr>
          <a:xfrm>
            <a:off x="4480300" y="2491434"/>
            <a:ext cx="4580650" cy="2371066"/>
          </a:xfrm>
          <a:prstGeom prst="rect">
            <a:avLst/>
          </a:prstGeom>
          <a:noFill/>
          <a:ln>
            <a:noFill/>
          </a:ln>
        </p:spPr>
      </p:pic>
      <p:sp>
        <p:nvSpPr>
          <p:cNvPr id="285" name="Google Shape;285;p40"/>
          <p:cNvSpPr txBox="1"/>
          <p:nvPr/>
        </p:nvSpPr>
        <p:spPr>
          <a:xfrm>
            <a:off x="5431175" y="1042900"/>
            <a:ext cx="35856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Adjusting light to fall on PD1 filter</a:t>
            </a:r>
            <a:endParaRPr b="1" i="0" sz="1600" u="none" cap="none" strike="noStrike">
              <a:solidFill>
                <a:srgbClr val="000000"/>
              </a:solidFill>
              <a:latin typeface="Arial"/>
              <a:ea typeface="Arial"/>
              <a:cs typeface="Arial"/>
              <a:sym typeface="Arial"/>
            </a:endParaRPr>
          </a:p>
        </p:txBody>
      </p:sp>
      <p:sp>
        <p:nvSpPr>
          <p:cNvPr id="286" name="Google Shape;286;p40"/>
          <p:cNvSpPr/>
          <p:nvPr/>
        </p:nvSpPr>
        <p:spPr>
          <a:xfrm>
            <a:off x="4661080" y="1101700"/>
            <a:ext cx="770100" cy="3135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40"/>
          <p:cNvSpPr/>
          <p:nvPr/>
        </p:nvSpPr>
        <p:spPr>
          <a:xfrm flipH="1">
            <a:off x="3588280" y="3993450"/>
            <a:ext cx="770100" cy="3135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40"/>
          <p:cNvSpPr txBox="1"/>
          <p:nvPr/>
        </p:nvSpPr>
        <p:spPr>
          <a:xfrm>
            <a:off x="0" y="3934650"/>
            <a:ext cx="35856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Adjusting light to fall on PD2 filter</a:t>
            </a:r>
            <a:endParaRPr b="1" i="0" sz="1600" u="none" cap="none" strike="noStrike">
              <a:solidFill>
                <a:srgbClr val="000000"/>
              </a:solidFill>
              <a:latin typeface="Arial"/>
              <a:ea typeface="Arial"/>
              <a:cs typeface="Arial"/>
              <a:sym typeface="Arial"/>
            </a:endParaRPr>
          </a:p>
        </p:txBody>
      </p:sp>
      <p:pic>
        <p:nvPicPr>
          <p:cNvPr id="289" name="Google Shape;289;p40"/>
          <p:cNvPicPr preferRelativeResize="0"/>
          <p:nvPr/>
        </p:nvPicPr>
        <p:blipFill rotWithShape="1">
          <a:blip r:embed="rId5">
            <a:alphaModFix/>
          </a:blip>
          <a:srcRect b="0" l="0" r="0" t="0"/>
          <a:stretch/>
        </p:blipFill>
        <p:spPr>
          <a:xfrm>
            <a:off x="7114481" y="171450"/>
            <a:ext cx="1774713" cy="4995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1"/>
          <p:cNvSpPr txBox="1"/>
          <p:nvPr>
            <p:ph type="title"/>
          </p:nvPr>
        </p:nvSpPr>
        <p:spPr>
          <a:xfrm>
            <a:off x="311700" y="35255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Clr>
                <a:schemeClr val="dk1"/>
              </a:buClr>
              <a:buSzPct val="28947"/>
              <a:buFont typeface="Arial"/>
              <a:buNone/>
            </a:pPr>
            <a:r>
              <a:rPr b="1" lang="en-US" sz="3800">
                <a:solidFill>
                  <a:srgbClr val="245599"/>
                </a:solidFill>
                <a:latin typeface="Lora"/>
                <a:ea typeface="Lora"/>
                <a:cs typeface="Lora"/>
                <a:sym typeface="Lora"/>
              </a:rPr>
              <a:t>Menu Tree</a:t>
            </a:r>
            <a:endParaRPr b="1" sz="3800">
              <a:latin typeface="Lora"/>
              <a:ea typeface="Lora"/>
              <a:cs typeface="Lora"/>
              <a:sym typeface="Lora"/>
            </a:endParaRPr>
          </a:p>
          <a:p>
            <a:pPr indent="0" lvl="0" marL="0" rtl="0" algn="l">
              <a:lnSpc>
                <a:spcPct val="100000"/>
              </a:lnSpc>
              <a:spcBef>
                <a:spcPts val="0"/>
              </a:spcBef>
              <a:spcAft>
                <a:spcPts val="0"/>
              </a:spcAft>
              <a:buSzPct val="111111"/>
              <a:buNone/>
            </a:pPr>
            <a:r>
              <a:t/>
            </a:r>
            <a:endParaRPr/>
          </a:p>
        </p:txBody>
      </p:sp>
      <p:pic>
        <p:nvPicPr>
          <p:cNvPr id="296" name="Google Shape;296;p41"/>
          <p:cNvPicPr preferRelativeResize="0"/>
          <p:nvPr/>
        </p:nvPicPr>
        <p:blipFill rotWithShape="1">
          <a:blip r:embed="rId3">
            <a:alphaModFix/>
          </a:blip>
          <a:srcRect b="0" l="0" r="0" t="0"/>
          <a:stretch/>
        </p:blipFill>
        <p:spPr>
          <a:xfrm>
            <a:off x="7114481" y="171450"/>
            <a:ext cx="1774713" cy="499575"/>
          </a:xfrm>
          <a:prstGeom prst="rect">
            <a:avLst/>
          </a:prstGeom>
          <a:noFill/>
          <a:ln>
            <a:noFill/>
          </a:ln>
        </p:spPr>
      </p:pic>
      <p:pic>
        <p:nvPicPr>
          <p:cNvPr id="297" name="Google Shape;297;p41"/>
          <p:cNvPicPr preferRelativeResize="0"/>
          <p:nvPr/>
        </p:nvPicPr>
        <p:blipFill rotWithShape="1">
          <a:blip r:embed="rId4">
            <a:alphaModFix/>
          </a:blip>
          <a:srcRect b="0" l="0" r="0" t="0"/>
          <a:stretch/>
        </p:blipFill>
        <p:spPr>
          <a:xfrm rot="-5400000">
            <a:off x="2478525" y="-929425"/>
            <a:ext cx="4186949" cy="78963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b="1" lang="en-US" sz="3400">
                <a:solidFill>
                  <a:srgbClr val="245599"/>
                </a:solidFill>
                <a:latin typeface="Lora"/>
                <a:ea typeface="Lora"/>
                <a:cs typeface="Lora"/>
                <a:sym typeface="Lora"/>
              </a:rPr>
              <a:t>Product Configuration</a:t>
            </a:r>
            <a:endParaRPr b="1" sz="3400">
              <a:latin typeface="Lora"/>
              <a:ea typeface="Lora"/>
              <a:cs typeface="Lora"/>
              <a:sym typeface="Lora"/>
            </a:endParaRPr>
          </a:p>
          <a:p>
            <a:pPr indent="0" lvl="0" marL="0" rtl="0" algn="l">
              <a:lnSpc>
                <a:spcPct val="100000"/>
              </a:lnSpc>
              <a:spcBef>
                <a:spcPts val="0"/>
              </a:spcBef>
              <a:spcAft>
                <a:spcPts val="0"/>
              </a:spcAft>
              <a:buSzPts val="2800"/>
              <a:buNone/>
            </a:pPr>
            <a:r>
              <a:t/>
            </a:r>
            <a:endParaRPr b="1" sz="3400">
              <a:latin typeface="Lora"/>
              <a:ea typeface="Lora"/>
              <a:cs typeface="Lora"/>
              <a:sym typeface="Lora"/>
            </a:endParaRPr>
          </a:p>
        </p:txBody>
      </p:sp>
      <p:pic>
        <p:nvPicPr>
          <p:cNvPr id="304" name="Google Shape;304;p42"/>
          <p:cNvPicPr preferRelativeResize="0"/>
          <p:nvPr/>
        </p:nvPicPr>
        <p:blipFill rotWithShape="1">
          <a:blip r:embed="rId3">
            <a:alphaModFix/>
          </a:blip>
          <a:srcRect b="0" l="0" r="0" t="0"/>
          <a:stretch/>
        </p:blipFill>
        <p:spPr>
          <a:xfrm>
            <a:off x="7114481" y="171450"/>
            <a:ext cx="1774713" cy="499575"/>
          </a:xfrm>
          <a:prstGeom prst="rect">
            <a:avLst/>
          </a:prstGeom>
          <a:noFill/>
          <a:ln>
            <a:noFill/>
          </a:ln>
        </p:spPr>
      </p:pic>
      <p:pic>
        <p:nvPicPr>
          <p:cNvPr id="305" name="Google Shape;305;p42"/>
          <p:cNvPicPr preferRelativeResize="0"/>
          <p:nvPr/>
        </p:nvPicPr>
        <p:blipFill rotWithShape="1">
          <a:blip r:embed="rId4">
            <a:alphaModFix/>
          </a:blip>
          <a:srcRect b="0" l="0" r="0" t="0"/>
          <a:stretch/>
        </p:blipFill>
        <p:spPr>
          <a:xfrm>
            <a:off x="1393138" y="1147000"/>
            <a:ext cx="6357723" cy="38209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pic>
        <p:nvPicPr>
          <p:cNvPr id="311" name="Google Shape;311;p43"/>
          <p:cNvPicPr preferRelativeResize="0"/>
          <p:nvPr/>
        </p:nvPicPr>
        <p:blipFill rotWithShape="1">
          <a:blip r:embed="rId3">
            <a:alphaModFix/>
          </a:blip>
          <a:srcRect b="0" l="0" r="0" t="0"/>
          <a:stretch/>
        </p:blipFill>
        <p:spPr>
          <a:xfrm>
            <a:off x="1907738" y="1665950"/>
            <a:ext cx="5328525" cy="3189100"/>
          </a:xfrm>
          <a:prstGeom prst="rect">
            <a:avLst/>
          </a:prstGeom>
          <a:noFill/>
          <a:ln>
            <a:noFill/>
          </a:ln>
        </p:spPr>
      </p:pic>
      <p:pic>
        <p:nvPicPr>
          <p:cNvPr id="312" name="Google Shape;312;p43"/>
          <p:cNvPicPr preferRelativeResize="0"/>
          <p:nvPr/>
        </p:nvPicPr>
        <p:blipFill rotWithShape="1">
          <a:blip r:embed="rId4">
            <a:alphaModFix/>
          </a:blip>
          <a:srcRect b="0" l="0" r="0" t="0"/>
          <a:stretch/>
        </p:blipFill>
        <p:spPr>
          <a:xfrm>
            <a:off x="7114481" y="171450"/>
            <a:ext cx="1774713" cy="499575"/>
          </a:xfrm>
          <a:prstGeom prst="rect">
            <a:avLst/>
          </a:prstGeom>
          <a:noFill/>
          <a:ln>
            <a:noFill/>
          </a:ln>
        </p:spPr>
      </p:pic>
      <p:sp>
        <p:nvSpPr>
          <p:cNvPr id="313" name="Google Shape;313;p43"/>
          <p:cNvSpPr txBox="1"/>
          <p:nvPr>
            <p:ph type="title"/>
          </p:nvPr>
        </p:nvSpPr>
        <p:spPr>
          <a:xfrm>
            <a:off x="311700" y="671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990"/>
              <a:buNone/>
            </a:pPr>
            <a:r>
              <a:rPr lang="en-US" sz="2320">
                <a:solidFill>
                  <a:srgbClr val="245599"/>
                </a:solidFill>
                <a:latin typeface="Lora"/>
                <a:ea typeface="Lora"/>
                <a:cs typeface="Lora"/>
                <a:sym typeface="Lora"/>
              </a:rPr>
              <a:t>Default Graphs, Scale Factor, Unit, CF, Calibration Solution will automatically come on Selection of a particular Model</a:t>
            </a:r>
            <a:endParaRPr sz="2320">
              <a:latin typeface="Lora"/>
              <a:ea typeface="Lora"/>
              <a:cs typeface="Lora"/>
              <a:sym typeface="Lora"/>
            </a:endParaRPr>
          </a:p>
          <a:p>
            <a:pPr indent="0" lvl="0" marL="0" rtl="0" algn="l">
              <a:lnSpc>
                <a:spcPct val="100000"/>
              </a:lnSpc>
              <a:spcBef>
                <a:spcPts val="0"/>
              </a:spcBef>
              <a:spcAft>
                <a:spcPts val="0"/>
              </a:spcAft>
              <a:buSzPts val="990"/>
              <a:buNone/>
            </a:pPr>
            <a:r>
              <a:t/>
            </a:r>
            <a:endParaRPr sz="252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Clr>
                <a:schemeClr val="dk1"/>
              </a:buClr>
              <a:buSzPts val="990"/>
              <a:buFont typeface="Arial"/>
              <a:buNone/>
            </a:pPr>
            <a:r>
              <a:rPr lang="en-US" sz="2320">
                <a:solidFill>
                  <a:srgbClr val="245599"/>
                </a:solidFill>
                <a:latin typeface="Lora"/>
                <a:ea typeface="Lora"/>
                <a:cs typeface="Lora"/>
                <a:sym typeface="Lora"/>
              </a:rPr>
              <a:t>TSS Graph derived with Formazin (SigmaAldrich)</a:t>
            </a:r>
            <a:endParaRPr sz="2320">
              <a:latin typeface="Lora"/>
              <a:ea typeface="Lora"/>
              <a:cs typeface="Lora"/>
              <a:sym typeface="Lora"/>
            </a:endParaRPr>
          </a:p>
          <a:p>
            <a:pPr indent="0" lvl="0" marL="0" rtl="0" algn="l">
              <a:lnSpc>
                <a:spcPct val="100000"/>
              </a:lnSpc>
              <a:spcBef>
                <a:spcPts val="0"/>
              </a:spcBef>
              <a:spcAft>
                <a:spcPts val="0"/>
              </a:spcAft>
              <a:buSzPts val="2800"/>
              <a:buNone/>
            </a:pPr>
            <a:r>
              <a:t/>
            </a:r>
            <a:endParaRPr/>
          </a:p>
        </p:txBody>
      </p:sp>
      <p:pic>
        <p:nvPicPr>
          <p:cNvPr id="320" name="Google Shape;320;p44"/>
          <p:cNvPicPr preferRelativeResize="0"/>
          <p:nvPr/>
        </p:nvPicPr>
        <p:blipFill rotWithShape="1">
          <a:blip r:embed="rId3">
            <a:alphaModFix/>
          </a:blip>
          <a:srcRect b="0" l="0" r="0" t="0"/>
          <a:stretch/>
        </p:blipFill>
        <p:spPr>
          <a:xfrm>
            <a:off x="1378525" y="1204800"/>
            <a:ext cx="6386944" cy="38209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pic>
        <p:nvPicPr>
          <p:cNvPr id="326" name="Google Shape;326;p45"/>
          <p:cNvPicPr preferRelativeResize="0"/>
          <p:nvPr/>
        </p:nvPicPr>
        <p:blipFill rotWithShape="1">
          <a:blip r:embed="rId3">
            <a:alphaModFix/>
          </a:blip>
          <a:srcRect b="0" l="0" r="0" t="0"/>
          <a:stretch/>
        </p:blipFill>
        <p:spPr>
          <a:xfrm>
            <a:off x="1242837" y="924250"/>
            <a:ext cx="6658325" cy="3993326"/>
          </a:xfrm>
          <a:prstGeom prst="rect">
            <a:avLst/>
          </a:prstGeom>
          <a:noFill/>
          <a:ln>
            <a:noFill/>
          </a:ln>
        </p:spPr>
      </p:pic>
      <p:sp>
        <p:nvSpPr>
          <p:cNvPr id="327" name="Google Shape;327;p45"/>
          <p:cNvSpPr txBox="1"/>
          <p:nvPr>
            <p:ph type="title"/>
          </p:nvPr>
        </p:nvSpPr>
        <p:spPr>
          <a:xfrm>
            <a:off x="311700" y="2123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990"/>
              <a:buNone/>
            </a:pPr>
            <a:r>
              <a:rPr b="1" lang="en-US" sz="3420">
                <a:solidFill>
                  <a:srgbClr val="245599"/>
                </a:solidFill>
                <a:latin typeface="Lora"/>
                <a:ea typeface="Lora"/>
                <a:cs typeface="Lora"/>
                <a:sym typeface="Lora"/>
              </a:rPr>
              <a:t>COD Configuration Screen</a:t>
            </a:r>
            <a:endParaRPr b="1" sz="3420">
              <a:latin typeface="Lora"/>
              <a:ea typeface="Lora"/>
              <a:cs typeface="Lora"/>
              <a:sym typeface="Lora"/>
            </a:endParaRPr>
          </a:p>
          <a:p>
            <a:pPr indent="0" lvl="0" marL="0" rtl="0" algn="l">
              <a:lnSpc>
                <a:spcPct val="100000"/>
              </a:lnSpc>
              <a:spcBef>
                <a:spcPts val="0"/>
              </a:spcBef>
              <a:spcAft>
                <a:spcPts val="0"/>
              </a:spcAft>
              <a:buSzPts val="990"/>
              <a:buNone/>
            </a:pPr>
            <a:r>
              <a:t/>
            </a:r>
            <a:endParaRPr sz="252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pic>
        <p:nvPicPr>
          <p:cNvPr id="333" name="Google Shape;333;p46"/>
          <p:cNvPicPr preferRelativeResize="0"/>
          <p:nvPr/>
        </p:nvPicPr>
        <p:blipFill rotWithShape="1">
          <a:blip r:embed="rId3">
            <a:alphaModFix/>
          </a:blip>
          <a:srcRect b="0" l="0" r="0" t="0"/>
          <a:stretch/>
        </p:blipFill>
        <p:spPr>
          <a:xfrm>
            <a:off x="1095445" y="860266"/>
            <a:ext cx="6974374" cy="4168900"/>
          </a:xfrm>
          <a:prstGeom prst="rect">
            <a:avLst/>
          </a:prstGeom>
          <a:noFill/>
          <a:ln>
            <a:noFill/>
          </a:ln>
        </p:spPr>
      </p:pic>
      <p:sp>
        <p:nvSpPr>
          <p:cNvPr id="334" name="Google Shape;334;p46"/>
          <p:cNvSpPr txBox="1"/>
          <p:nvPr>
            <p:ph type="title"/>
          </p:nvPr>
        </p:nvSpPr>
        <p:spPr>
          <a:xfrm>
            <a:off x="311700" y="2123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81871"/>
              <a:buNone/>
            </a:pPr>
            <a:r>
              <a:rPr b="1" lang="en-US" sz="3800">
                <a:solidFill>
                  <a:srgbClr val="245599"/>
                </a:solidFill>
                <a:latin typeface="Lora"/>
                <a:ea typeface="Lora"/>
                <a:cs typeface="Lora"/>
                <a:sym typeface="Lora"/>
              </a:rPr>
              <a:t>COD CHECK Screen</a:t>
            </a:r>
            <a:endParaRPr b="1" sz="3800">
              <a:latin typeface="Lora"/>
              <a:ea typeface="Lora"/>
              <a:cs typeface="Lora"/>
              <a:sym typeface="Lora"/>
            </a:endParaRPr>
          </a:p>
          <a:p>
            <a:pPr indent="0" lvl="0" marL="0" rtl="0" algn="l">
              <a:lnSpc>
                <a:spcPct val="100000"/>
              </a:lnSpc>
              <a:spcBef>
                <a:spcPts val="0"/>
              </a:spcBef>
              <a:spcAft>
                <a:spcPts val="0"/>
              </a:spcAft>
              <a:buSzPct val="111111"/>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pic>
        <p:nvPicPr>
          <p:cNvPr id="340" name="Google Shape;340;p47"/>
          <p:cNvPicPr preferRelativeResize="0"/>
          <p:nvPr/>
        </p:nvPicPr>
        <p:blipFill rotWithShape="1">
          <a:blip r:embed="rId3">
            <a:alphaModFix/>
          </a:blip>
          <a:srcRect b="0" l="0" r="0" t="0"/>
          <a:stretch/>
        </p:blipFill>
        <p:spPr>
          <a:xfrm>
            <a:off x="1121350" y="785025"/>
            <a:ext cx="6901301" cy="4130400"/>
          </a:xfrm>
          <a:prstGeom prst="rect">
            <a:avLst/>
          </a:prstGeom>
          <a:noFill/>
          <a:ln>
            <a:noFill/>
          </a:ln>
        </p:spPr>
      </p:pic>
      <p:sp>
        <p:nvSpPr>
          <p:cNvPr id="341" name="Google Shape;341;p47"/>
          <p:cNvSpPr txBox="1"/>
          <p:nvPr>
            <p:ph type="title"/>
          </p:nvPr>
        </p:nvSpPr>
        <p:spPr>
          <a:xfrm>
            <a:off x="311700" y="2123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81871"/>
              <a:buNone/>
            </a:pPr>
            <a:r>
              <a:rPr b="1" lang="en-US" sz="3800">
                <a:solidFill>
                  <a:srgbClr val="245599"/>
                </a:solidFill>
                <a:latin typeface="Lora"/>
                <a:ea typeface="Lora"/>
                <a:cs typeface="Lora"/>
                <a:sym typeface="Lora"/>
              </a:rPr>
              <a:t>COD 2 Point Calibration</a:t>
            </a:r>
            <a:endParaRPr b="1" sz="3800">
              <a:latin typeface="Lora"/>
              <a:ea typeface="Lora"/>
              <a:cs typeface="Lora"/>
              <a:sym typeface="Lora"/>
            </a:endParaRPr>
          </a:p>
          <a:p>
            <a:pPr indent="0" lvl="0" marL="0" rtl="0" algn="l">
              <a:lnSpc>
                <a:spcPct val="100000"/>
              </a:lnSpc>
              <a:spcBef>
                <a:spcPts val="0"/>
              </a:spcBef>
              <a:spcAft>
                <a:spcPts val="0"/>
              </a:spcAft>
              <a:buSzPct val="111111"/>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48"/>
          <p:cNvSpPr txBox="1"/>
          <p:nvPr>
            <p:ph type="title"/>
          </p:nvPr>
        </p:nvSpPr>
        <p:spPr>
          <a:xfrm>
            <a:off x="311700" y="2123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81871"/>
              <a:buNone/>
            </a:pPr>
            <a:r>
              <a:rPr b="1" lang="en-US" sz="3800">
                <a:solidFill>
                  <a:srgbClr val="245599"/>
                </a:solidFill>
                <a:latin typeface="Lora"/>
                <a:ea typeface="Lora"/>
                <a:cs typeface="Lora"/>
                <a:sym typeface="Lora"/>
              </a:rPr>
              <a:t>COD 3 Point Calibration</a:t>
            </a:r>
            <a:endParaRPr b="1" sz="3800">
              <a:latin typeface="Lora"/>
              <a:ea typeface="Lora"/>
              <a:cs typeface="Lora"/>
              <a:sym typeface="Lora"/>
            </a:endParaRPr>
          </a:p>
          <a:p>
            <a:pPr indent="0" lvl="0" marL="0" rtl="0" algn="l">
              <a:lnSpc>
                <a:spcPct val="100000"/>
              </a:lnSpc>
              <a:spcBef>
                <a:spcPts val="0"/>
              </a:spcBef>
              <a:spcAft>
                <a:spcPts val="0"/>
              </a:spcAft>
              <a:buSzPct val="111111"/>
              <a:buNone/>
            </a:pPr>
            <a:r>
              <a:t/>
            </a:r>
            <a:endParaRPr/>
          </a:p>
        </p:txBody>
      </p:sp>
      <p:pic>
        <p:nvPicPr>
          <p:cNvPr id="348" name="Google Shape;348;p48"/>
          <p:cNvPicPr preferRelativeResize="0"/>
          <p:nvPr/>
        </p:nvPicPr>
        <p:blipFill rotWithShape="1">
          <a:blip r:embed="rId3">
            <a:alphaModFix/>
          </a:blip>
          <a:srcRect b="0" l="0" r="0" t="0"/>
          <a:stretch/>
        </p:blipFill>
        <p:spPr>
          <a:xfrm>
            <a:off x="1084925" y="785025"/>
            <a:ext cx="6974175" cy="41687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pic>
        <p:nvPicPr>
          <p:cNvPr id="354" name="Google Shape;354;p49"/>
          <p:cNvPicPr preferRelativeResize="0"/>
          <p:nvPr/>
        </p:nvPicPr>
        <p:blipFill rotWithShape="1">
          <a:blip r:embed="rId3">
            <a:alphaModFix/>
          </a:blip>
          <a:srcRect b="0" l="0" r="0" t="0"/>
          <a:stretch/>
        </p:blipFill>
        <p:spPr>
          <a:xfrm>
            <a:off x="1034975" y="785025"/>
            <a:ext cx="7074051" cy="4263800"/>
          </a:xfrm>
          <a:prstGeom prst="rect">
            <a:avLst/>
          </a:prstGeom>
          <a:noFill/>
          <a:ln>
            <a:noFill/>
          </a:ln>
        </p:spPr>
      </p:pic>
      <p:sp>
        <p:nvSpPr>
          <p:cNvPr id="355" name="Google Shape;355;p49"/>
          <p:cNvSpPr txBox="1"/>
          <p:nvPr>
            <p:ph type="title"/>
          </p:nvPr>
        </p:nvSpPr>
        <p:spPr>
          <a:xfrm>
            <a:off x="311700" y="2123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81871"/>
              <a:buNone/>
            </a:pPr>
            <a:r>
              <a:rPr b="1" lang="en-US" sz="3800">
                <a:solidFill>
                  <a:srgbClr val="245599"/>
                </a:solidFill>
                <a:latin typeface="Lora"/>
                <a:ea typeface="Lora"/>
                <a:cs typeface="Lora"/>
                <a:sym typeface="Lora"/>
              </a:rPr>
              <a:t>Scheduler Configuration</a:t>
            </a:r>
            <a:endParaRPr b="1" sz="3800">
              <a:latin typeface="Lora"/>
              <a:ea typeface="Lora"/>
              <a:cs typeface="Lora"/>
              <a:sym typeface="Lora"/>
            </a:endParaRPr>
          </a:p>
          <a:p>
            <a:pPr indent="0" lvl="0" marL="0" rtl="0" algn="l">
              <a:lnSpc>
                <a:spcPct val="100000"/>
              </a:lnSpc>
              <a:spcBef>
                <a:spcPts val="0"/>
              </a:spcBef>
              <a:spcAft>
                <a:spcPts val="0"/>
              </a:spcAft>
              <a:buSzPct val="111111"/>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5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81871"/>
              <a:buNone/>
            </a:pPr>
            <a:r>
              <a:rPr b="1" lang="en-US" sz="3800">
                <a:solidFill>
                  <a:srgbClr val="245599"/>
                </a:solidFill>
                <a:latin typeface="Lora"/>
                <a:ea typeface="Lora"/>
                <a:cs typeface="Lora"/>
                <a:sym typeface="Lora"/>
              </a:rPr>
              <a:t>Scale Factor Calculation</a:t>
            </a:r>
            <a:endParaRPr b="1" sz="3800">
              <a:solidFill>
                <a:srgbClr val="000000"/>
              </a:solidFill>
              <a:latin typeface="Lora"/>
              <a:ea typeface="Lora"/>
              <a:cs typeface="Lora"/>
              <a:sym typeface="Lora"/>
            </a:endParaRPr>
          </a:p>
          <a:p>
            <a:pPr indent="0" lvl="0" marL="0" rtl="0" algn="l">
              <a:lnSpc>
                <a:spcPct val="100000"/>
              </a:lnSpc>
              <a:spcBef>
                <a:spcPts val="0"/>
              </a:spcBef>
              <a:spcAft>
                <a:spcPts val="0"/>
              </a:spcAft>
              <a:buSzPct val="222222"/>
              <a:buNone/>
            </a:pPr>
            <a:r>
              <a:t/>
            </a:r>
            <a:endParaRPr sz="1400">
              <a:solidFill>
                <a:srgbClr val="000000"/>
              </a:solidFill>
            </a:endParaRPr>
          </a:p>
          <a:p>
            <a:pPr indent="0" lvl="0" marL="0" rtl="0" algn="l">
              <a:lnSpc>
                <a:spcPct val="100000"/>
              </a:lnSpc>
              <a:spcBef>
                <a:spcPts val="0"/>
              </a:spcBef>
              <a:spcAft>
                <a:spcPts val="0"/>
              </a:spcAft>
              <a:buSzPct val="111111"/>
              <a:buNone/>
            </a:pPr>
            <a:r>
              <a:t/>
            </a:r>
            <a:endParaRPr/>
          </a:p>
        </p:txBody>
      </p:sp>
      <p:sp>
        <p:nvSpPr>
          <p:cNvPr id="362" name="Google Shape;362;p5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Clr>
                <a:schemeClr val="dk1"/>
              </a:buClr>
              <a:buSzPts val="1800"/>
              <a:buFont typeface="Lora"/>
              <a:buChar char="➢"/>
            </a:pPr>
            <a:r>
              <a:rPr lang="en-US">
                <a:solidFill>
                  <a:schemeClr val="dk1"/>
                </a:solidFill>
                <a:latin typeface="Lora"/>
                <a:ea typeface="Lora"/>
                <a:cs typeface="Lora"/>
                <a:sym typeface="Lora"/>
              </a:rPr>
              <a:t>Scale Factor is dependent on the Flow Cell Path Length </a:t>
            </a:r>
            <a:endParaRPr>
              <a:solidFill>
                <a:schemeClr val="dk1"/>
              </a:solidFill>
              <a:latin typeface="Lora"/>
              <a:ea typeface="Lora"/>
              <a:cs typeface="Lora"/>
              <a:sym typeface="Lora"/>
            </a:endParaRPr>
          </a:p>
          <a:p>
            <a:pPr indent="-342900" lvl="0" marL="457200" rtl="0" algn="l">
              <a:lnSpc>
                <a:spcPct val="115000"/>
              </a:lnSpc>
              <a:spcBef>
                <a:spcPts val="0"/>
              </a:spcBef>
              <a:spcAft>
                <a:spcPts val="0"/>
              </a:spcAft>
              <a:buClr>
                <a:schemeClr val="dk1"/>
              </a:buClr>
              <a:buSzPts val="1800"/>
              <a:buFont typeface="Lora"/>
              <a:buChar char="➢"/>
            </a:pPr>
            <a:r>
              <a:rPr lang="en-US">
                <a:solidFill>
                  <a:schemeClr val="dk1"/>
                </a:solidFill>
                <a:latin typeface="Lora"/>
                <a:ea typeface="Lora"/>
                <a:cs typeface="Lora"/>
                <a:sym typeface="Lora"/>
              </a:rPr>
              <a:t>For the same model, Path Length slightly varies from Flow Cell to Flow Cell</a:t>
            </a:r>
            <a:endParaRPr>
              <a:solidFill>
                <a:schemeClr val="dk1"/>
              </a:solidFill>
              <a:latin typeface="Lora"/>
              <a:ea typeface="Lora"/>
              <a:cs typeface="Lora"/>
              <a:sym typeface="Lora"/>
            </a:endParaRPr>
          </a:p>
          <a:p>
            <a:pPr indent="-342900" lvl="0" marL="457200" rtl="0" algn="l">
              <a:lnSpc>
                <a:spcPct val="115000"/>
              </a:lnSpc>
              <a:spcBef>
                <a:spcPts val="0"/>
              </a:spcBef>
              <a:spcAft>
                <a:spcPts val="0"/>
              </a:spcAft>
              <a:buClr>
                <a:schemeClr val="dk1"/>
              </a:buClr>
              <a:buSzPts val="1800"/>
              <a:buChar char="➢"/>
            </a:pPr>
            <a:r>
              <a:rPr lang="en-US">
                <a:solidFill>
                  <a:schemeClr val="dk1"/>
                </a:solidFill>
                <a:latin typeface="Lora"/>
                <a:ea typeface="Lora"/>
                <a:cs typeface="Lora"/>
                <a:sym typeface="Lora"/>
              </a:rPr>
              <a:t>So, </a:t>
            </a:r>
            <a:r>
              <a:rPr b="1" lang="en-US">
                <a:solidFill>
                  <a:schemeClr val="dk1"/>
                </a:solidFill>
                <a:latin typeface="Lora"/>
                <a:ea typeface="Lora"/>
                <a:cs typeface="Lora"/>
                <a:sym typeface="Lora"/>
              </a:rPr>
              <a:t>Scale Factor</a:t>
            </a:r>
            <a:r>
              <a:rPr lang="en-US">
                <a:solidFill>
                  <a:schemeClr val="dk1"/>
                </a:solidFill>
                <a:latin typeface="Lora"/>
                <a:ea typeface="Lora"/>
                <a:cs typeface="Lora"/>
                <a:sym typeface="Lora"/>
              </a:rPr>
              <a:t> needs to be recalculated if the Flow Cell is replaced by a new one </a:t>
            </a:r>
            <a:endParaRPr>
              <a:solidFill>
                <a:schemeClr val="dk1"/>
              </a:solidFill>
              <a:latin typeface="Lora"/>
              <a:ea typeface="Lora"/>
              <a:cs typeface="Lora"/>
              <a:sym typeface="Lora"/>
            </a:endParaRPr>
          </a:p>
          <a:p>
            <a:pPr indent="-342900" lvl="0" marL="457200" rtl="0" algn="l">
              <a:lnSpc>
                <a:spcPct val="115000"/>
              </a:lnSpc>
              <a:spcBef>
                <a:spcPts val="0"/>
              </a:spcBef>
              <a:spcAft>
                <a:spcPts val="0"/>
              </a:spcAft>
              <a:buClr>
                <a:schemeClr val="dk1"/>
              </a:buClr>
              <a:buSzPts val="1800"/>
              <a:buFont typeface="Lora"/>
              <a:buChar char="➢"/>
            </a:pPr>
            <a:r>
              <a:rPr lang="en-US">
                <a:solidFill>
                  <a:schemeClr val="dk1"/>
                </a:solidFill>
                <a:latin typeface="Lora"/>
                <a:ea typeface="Lora"/>
                <a:cs typeface="Lora"/>
                <a:sym typeface="Lora"/>
              </a:rPr>
              <a:t>Formula for calculating Scale Factor:</a:t>
            </a:r>
            <a:endParaRPr>
              <a:solidFill>
                <a:schemeClr val="dk1"/>
              </a:solidFill>
              <a:latin typeface="Lora"/>
              <a:ea typeface="Lora"/>
              <a:cs typeface="Lora"/>
              <a:sym typeface="Lora"/>
            </a:endParaRPr>
          </a:p>
          <a:p>
            <a:pPr indent="0" lvl="0" marL="0" rtl="0" algn="ctr">
              <a:lnSpc>
                <a:spcPct val="100000"/>
              </a:lnSpc>
              <a:spcBef>
                <a:spcPts val="1200"/>
              </a:spcBef>
              <a:spcAft>
                <a:spcPts val="0"/>
              </a:spcAft>
              <a:buSzPts val="1800"/>
              <a:buNone/>
            </a:pPr>
            <a:r>
              <a:rPr lang="en-US">
                <a:solidFill>
                  <a:schemeClr val="dk1"/>
                </a:solidFill>
                <a:latin typeface="Lora"/>
                <a:ea typeface="Lora"/>
                <a:cs typeface="Lora"/>
                <a:sym typeface="Lora"/>
              </a:rPr>
              <a:t>New scale factor = Default scale factor x (COD Raw corresponding to the KHP Calibration Solution in Factory Calibration Table / COD Raw Reading)</a:t>
            </a:r>
            <a:endParaRPr>
              <a:solidFill>
                <a:schemeClr val="dk1"/>
              </a:solidFill>
              <a:latin typeface="Lora"/>
              <a:ea typeface="Lora"/>
              <a:cs typeface="Lora"/>
              <a:sym typeface="Lora"/>
            </a:endParaRPr>
          </a:p>
          <a:p>
            <a:pPr indent="0" lvl="0" marL="0" rtl="0" algn="ctr">
              <a:lnSpc>
                <a:spcPct val="100000"/>
              </a:lnSpc>
              <a:spcBef>
                <a:spcPts val="0"/>
              </a:spcBef>
              <a:spcAft>
                <a:spcPts val="0"/>
              </a:spcAft>
              <a:buSzPts val="1800"/>
              <a:buNone/>
            </a:pPr>
            <a:r>
              <a:t/>
            </a:r>
            <a:endParaRPr>
              <a:solidFill>
                <a:schemeClr val="dk1"/>
              </a:solidFill>
              <a:latin typeface="Lora"/>
              <a:ea typeface="Lora"/>
              <a:cs typeface="Lora"/>
              <a:sym typeface="Lora"/>
            </a:endParaRPr>
          </a:p>
          <a:p>
            <a:pPr indent="0" lvl="0" marL="457200" rtl="0" algn="l">
              <a:lnSpc>
                <a:spcPct val="100000"/>
              </a:lnSpc>
              <a:spcBef>
                <a:spcPts val="0"/>
              </a:spcBef>
              <a:spcAft>
                <a:spcPts val="0"/>
              </a:spcAft>
              <a:buSzPts val="1800"/>
              <a:buNone/>
            </a:pPr>
            <a:r>
              <a:t/>
            </a:r>
            <a:endParaRPr>
              <a:solidFill>
                <a:schemeClr val="dk1"/>
              </a:solidFill>
              <a:latin typeface="Lora"/>
              <a:ea typeface="Lora"/>
              <a:cs typeface="Lora"/>
              <a:sym typeface="Lora"/>
            </a:endParaRPr>
          </a:p>
        </p:txBody>
      </p:sp>
      <p:pic>
        <p:nvPicPr>
          <p:cNvPr id="363" name="Google Shape;363;p50"/>
          <p:cNvPicPr preferRelativeResize="0"/>
          <p:nvPr/>
        </p:nvPicPr>
        <p:blipFill rotWithShape="1">
          <a:blip r:embed="rId3">
            <a:alphaModFix/>
          </a:blip>
          <a:srcRect b="0" l="0" r="0" t="0"/>
          <a:stretch/>
        </p:blipFill>
        <p:spPr>
          <a:xfrm>
            <a:off x="7172281" y="183025"/>
            <a:ext cx="1774713" cy="4995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51"/>
          <p:cNvSpPr txBox="1"/>
          <p:nvPr>
            <p:ph type="title"/>
          </p:nvPr>
        </p:nvSpPr>
        <p:spPr>
          <a:xfrm>
            <a:off x="311700" y="682600"/>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990"/>
              <a:buFont typeface="Arial"/>
              <a:buNone/>
            </a:pPr>
            <a:r>
              <a:rPr b="1" lang="en-US">
                <a:solidFill>
                  <a:srgbClr val="245599"/>
                </a:solidFill>
                <a:latin typeface="Lora"/>
                <a:ea typeface="Lora"/>
                <a:cs typeface="Lora"/>
                <a:sym typeface="Lora"/>
              </a:rPr>
              <a:t>Process Calibration with Actual Sample at Site</a:t>
            </a:r>
            <a:endParaRPr b="1">
              <a:latin typeface="Lora"/>
              <a:ea typeface="Lora"/>
              <a:cs typeface="Lora"/>
              <a:sym typeface="Lora"/>
            </a:endParaRPr>
          </a:p>
        </p:txBody>
      </p:sp>
      <p:sp>
        <p:nvSpPr>
          <p:cNvPr id="370" name="Google Shape;370;p51"/>
          <p:cNvSpPr txBox="1"/>
          <p:nvPr>
            <p:ph idx="1" type="body"/>
          </p:nvPr>
        </p:nvSpPr>
        <p:spPr>
          <a:xfrm>
            <a:off x="311700" y="1255300"/>
            <a:ext cx="8520600" cy="3416400"/>
          </a:xfrm>
          <a:prstGeom prst="rect">
            <a:avLst/>
          </a:prstGeom>
          <a:noFill/>
          <a:ln>
            <a:noFill/>
          </a:ln>
        </p:spPr>
        <p:txBody>
          <a:bodyPr anchorCtr="0" anchor="t" bIns="91425" lIns="91425" spcFirstLastPara="1" rIns="91425" wrap="square" tIns="91425">
            <a:normAutofit/>
          </a:bodyPr>
          <a:lstStyle/>
          <a:p>
            <a:pPr indent="-368300" lvl="0" marL="457200" rtl="0" algn="l">
              <a:lnSpc>
                <a:spcPct val="100000"/>
              </a:lnSpc>
              <a:spcBef>
                <a:spcPts val="0"/>
              </a:spcBef>
              <a:spcAft>
                <a:spcPts val="0"/>
              </a:spcAft>
              <a:buClr>
                <a:schemeClr val="dk1"/>
              </a:buClr>
              <a:buSzPts val="2200"/>
              <a:buChar char="➢"/>
            </a:pPr>
            <a:r>
              <a:rPr lang="en-US">
                <a:solidFill>
                  <a:schemeClr val="dk1"/>
                </a:solidFill>
                <a:latin typeface="Lora"/>
                <a:ea typeface="Lora"/>
                <a:cs typeface="Lora"/>
                <a:sym typeface="Lora"/>
              </a:rPr>
              <a:t>CX2000 is factory calibrated with the standard solutions for COD and TSS</a:t>
            </a:r>
            <a:endParaRPr>
              <a:solidFill>
                <a:schemeClr val="dk1"/>
              </a:solidFill>
              <a:latin typeface="Lora"/>
              <a:ea typeface="Lora"/>
              <a:cs typeface="Lora"/>
              <a:sym typeface="Lora"/>
            </a:endParaRPr>
          </a:p>
          <a:p>
            <a:pPr indent="-342900" lvl="0" marL="457200" rtl="0" algn="l">
              <a:lnSpc>
                <a:spcPct val="100000"/>
              </a:lnSpc>
              <a:spcBef>
                <a:spcPts val="0"/>
              </a:spcBef>
              <a:spcAft>
                <a:spcPts val="0"/>
              </a:spcAft>
              <a:buClr>
                <a:schemeClr val="dk1"/>
              </a:buClr>
              <a:buSzPts val="1800"/>
              <a:buFont typeface="Lora"/>
              <a:buChar char="➢"/>
            </a:pPr>
            <a:r>
              <a:rPr lang="en-US">
                <a:solidFill>
                  <a:schemeClr val="dk1"/>
                </a:solidFill>
                <a:latin typeface="Lora"/>
                <a:ea typeface="Lora"/>
                <a:cs typeface="Lora"/>
                <a:sym typeface="Lora"/>
              </a:rPr>
              <a:t>As per the pollution control board guidelines for OCEMS, both of these parameters require regular process calibration at site for better matrix matching</a:t>
            </a:r>
            <a:endParaRPr>
              <a:solidFill>
                <a:schemeClr val="dk1"/>
              </a:solidFill>
              <a:latin typeface="Lora"/>
              <a:ea typeface="Lora"/>
              <a:cs typeface="Lora"/>
              <a:sym typeface="Lora"/>
            </a:endParaRPr>
          </a:p>
          <a:p>
            <a:pPr indent="-342900" lvl="0" marL="457200" rtl="0" algn="l">
              <a:lnSpc>
                <a:spcPct val="100000"/>
              </a:lnSpc>
              <a:spcBef>
                <a:spcPts val="0"/>
              </a:spcBef>
              <a:spcAft>
                <a:spcPts val="0"/>
              </a:spcAft>
              <a:buClr>
                <a:schemeClr val="dk1"/>
              </a:buClr>
              <a:buSzPts val="1800"/>
              <a:buFont typeface="Lora"/>
              <a:buChar char="➢"/>
            </a:pPr>
            <a:r>
              <a:rPr lang="en-US">
                <a:solidFill>
                  <a:schemeClr val="dk1"/>
                </a:solidFill>
                <a:latin typeface="Lora"/>
                <a:ea typeface="Lora"/>
                <a:cs typeface="Lora"/>
                <a:sym typeface="Lora"/>
              </a:rPr>
              <a:t>Frequency of process calibration depends on the sample condition</a:t>
            </a:r>
            <a:endParaRPr>
              <a:solidFill>
                <a:schemeClr val="dk1"/>
              </a:solidFill>
              <a:latin typeface="Lora"/>
              <a:ea typeface="Lora"/>
              <a:cs typeface="Lora"/>
              <a:sym typeface="Lora"/>
            </a:endParaRPr>
          </a:p>
          <a:p>
            <a:pPr indent="-342900" lvl="0" marL="457200" rtl="0" algn="l">
              <a:lnSpc>
                <a:spcPct val="100000"/>
              </a:lnSpc>
              <a:spcBef>
                <a:spcPts val="0"/>
              </a:spcBef>
              <a:spcAft>
                <a:spcPts val="0"/>
              </a:spcAft>
              <a:buClr>
                <a:schemeClr val="dk1"/>
              </a:buClr>
              <a:buSzPts val="1800"/>
              <a:buFont typeface="Lora"/>
              <a:buChar char="➢"/>
            </a:pPr>
            <a:r>
              <a:rPr lang="en-US">
                <a:solidFill>
                  <a:schemeClr val="dk1"/>
                </a:solidFill>
                <a:latin typeface="Lora"/>
                <a:ea typeface="Lora"/>
                <a:cs typeface="Lora"/>
                <a:sym typeface="Lora"/>
              </a:rPr>
              <a:t>For the process calibration, the sample should be given to a neat-equipped laboratory</a:t>
            </a:r>
            <a:endParaRPr>
              <a:solidFill>
                <a:schemeClr val="dk1"/>
              </a:solidFill>
              <a:latin typeface="Lora"/>
              <a:ea typeface="Lora"/>
              <a:cs typeface="Lora"/>
              <a:sym typeface="Lora"/>
            </a:endParaRPr>
          </a:p>
          <a:p>
            <a:pPr indent="-342900" lvl="0" marL="457200" rtl="0" algn="l">
              <a:lnSpc>
                <a:spcPct val="100000"/>
              </a:lnSpc>
              <a:spcBef>
                <a:spcPts val="0"/>
              </a:spcBef>
              <a:spcAft>
                <a:spcPts val="0"/>
              </a:spcAft>
              <a:buClr>
                <a:schemeClr val="dk1"/>
              </a:buClr>
              <a:buSzPts val="1800"/>
              <a:buFont typeface="Lora"/>
              <a:buChar char="➢"/>
            </a:pPr>
            <a:r>
              <a:rPr lang="en-US">
                <a:solidFill>
                  <a:schemeClr val="dk1"/>
                </a:solidFill>
                <a:latin typeface="Lora"/>
                <a:ea typeface="Lora"/>
                <a:cs typeface="Lora"/>
                <a:sym typeface="Lora"/>
              </a:rPr>
              <a:t>The same grab sample should be kept for performing sensor calibration in CX2000</a:t>
            </a:r>
            <a:endParaRPr>
              <a:solidFill>
                <a:schemeClr val="dk1"/>
              </a:solidFill>
              <a:latin typeface="Lora"/>
              <a:ea typeface="Lora"/>
              <a:cs typeface="Lora"/>
              <a:sym typeface="Lora"/>
            </a:endParaRPr>
          </a:p>
        </p:txBody>
      </p:sp>
      <p:pic>
        <p:nvPicPr>
          <p:cNvPr id="371" name="Google Shape;371;p51"/>
          <p:cNvPicPr preferRelativeResize="0"/>
          <p:nvPr/>
        </p:nvPicPr>
        <p:blipFill rotWithShape="1">
          <a:blip r:embed="rId3">
            <a:alphaModFix/>
          </a:blip>
          <a:srcRect b="0" l="0" r="0" t="0"/>
          <a:stretch/>
        </p:blipFill>
        <p:spPr>
          <a:xfrm>
            <a:off x="7172281" y="183025"/>
            <a:ext cx="1774713" cy="4995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52"/>
          <p:cNvSpPr txBox="1"/>
          <p:nvPr>
            <p:ph type="title"/>
          </p:nvPr>
        </p:nvSpPr>
        <p:spPr>
          <a:xfrm>
            <a:off x="311700" y="572275"/>
            <a:ext cx="8520600" cy="85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990"/>
              <a:buFont typeface="Arial"/>
              <a:buNone/>
            </a:pPr>
            <a:r>
              <a:rPr b="1" lang="en-US" sz="2520">
                <a:solidFill>
                  <a:srgbClr val="245599"/>
                </a:solidFill>
                <a:latin typeface="Lora"/>
                <a:ea typeface="Lora"/>
                <a:cs typeface="Lora"/>
                <a:sym typeface="Lora"/>
              </a:rPr>
              <a:t>Switch between Standard Solution Calibration and Process Calibration</a:t>
            </a:r>
            <a:endParaRPr b="1" sz="2520">
              <a:latin typeface="Lora"/>
              <a:ea typeface="Lora"/>
              <a:cs typeface="Lora"/>
              <a:sym typeface="Lora"/>
            </a:endParaRPr>
          </a:p>
          <a:p>
            <a:pPr indent="0" lvl="0" marL="0" rtl="0" algn="l">
              <a:lnSpc>
                <a:spcPct val="100000"/>
              </a:lnSpc>
              <a:spcBef>
                <a:spcPts val="0"/>
              </a:spcBef>
              <a:spcAft>
                <a:spcPts val="0"/>
              </a:spcAft>
              <a:buSzPts val="990"/>
              <a:buNone/>
            </a:pPr>
            <a:r>
              <a:t/>
            </a:r>
            <a:endParaRPr sz="2520"/>
          </a:p>
        </p:txBody>
      </p:sp>
      <p:pic>
        <p:nvPicPr>
          <p:cNvPr id="378" name="Google Shape;378;p52"/>
          <p:cNvPicPr preferRelativeResize="0"/>
          <p:nvPr/>
        </p:nvPicPr>
        <p:blipFill rotWithShape="1">
          <a:blip r:embed="rId3">
            <a:alphaModFix/>
          </a:blip>
          <a:srcRect b="0" l="0" r="0" t="0"/>
          <a:stretch/>
        </p:blipFill>
        <p:spPr>
          <a:xfrm>
            <a:off x="7172281" y="183025"/>
            <a:ext cx="1774713" cy="499575"/>
          </a:xfrm>
          <a:prstGeom prst="rect">
            <a:avLst/>
          </a:prstGeom>
          <a:noFill/>
          <a:ln>
            <a:noFill/>
          </a:ln>
        </p:spPr>
      </p:pic>
      <p:sp>
        <p:nvSpPr>
          <p:cNvPr id="379" name="Google Shape;379;p52"/>
          <p:cNvSpPr txBox="1"/>
          <p:nvPr>
            <p:ph idx="1" type="body"/>
          </p:nvPr>
        </p:nvSpPr>
        <p:spPr>
          <a:xfrm>
            <a:off x="311700" y="1428475"/>
            <a:ext cx="8520600" cy="3140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Font typeface="Lora"/>
              <a:buChar char="➢"/>
            </a:pPr>
            <a:r>
              <a:rPr lang="en-US">
                <a:latin typeface="Lora"/>
                <a:ea typeface="Lora"/>
                <a:cs typeface="Lora"/>
                <a:sym typeface="Lora"/>
              </a:rPr>
              <a:t>Default Calibration Solution is KHP Standard Solution for COD and Kaolin Standard Solution for TSS</a:t>
            </a:r>
            <a:endParaRPr>
              <a:latin typeface="Lora"/>
              <a:ea typeface="Lora"/>
              <a:cs typeface="Lora"/>
              <a:sym typeface="Lora"/>
            </a:endParaRPr>
          </a:p>
          <a:p>
            <a:pPr indent="-342900" lvl="0" marL="457200" rtl="0" algn="l">
              <a:lnSpc>
                <a:spcPct val="115000"/>
              </a:lnSpc>
              <a:spcBef>
                <a:spcPts val="0"/>
              </a:spcBef>
              <a:spcAft>
                <a:spcPts val="0"/>
              </a:spcAft>
              <a:buSzPts val="1800"/>
              <a:buFont typeface="Lora"/>
              <a:buChar char="➢"/>
            </a:pPr>
            <a:r>
              <a:rPr lang="en-US">
                <a:latin typeface="Lora"/>
                <a:ea typeface="Lora"/>
                <a:cs typeface="Lora"/>
                <a:sym typeface="Lora"/>
              </a:rPr>
              <a:t>Before performing Process Calibration, select Process as Calibration Solution in SETTINGS &gt; CONFIG &gt; COD / TSS</a:t>
            </a:r>
            <a:endParaRPr>
              <a:latin typeface="Lora"/>
              <a:ea typeface="Lora"/>
              <a:cs typeface="Lora"/>
              <a:sym typeface="Lora"/>
            </a:endParaRPr>
          </a:p>
          <a:p>
            <a:pPr indent="-342900" lvl="0" marL="457200" rtl="0" algn="l">
              <a:lnSpc>
                <a:spcPct val="115000"/>
              </a:lnSpc>
              <a:spcBef>
                <a:spcPts val="0"/>
              </a:spcBef>
              <a:spcAft>
                <a:spcPts val="0"/>
              </a:spcAft>
              <a:buSzPts val="1800"/>
              <a:buFont typeface="Lora"/>
              <a:buChar char="➢"/>
            </a:pPr>
            <a:r>
              <a:rPr lang="en-US">
                <a:latin typeface="Lora"/>
                <a:ea typeface="Lora"/>
                <a:cs typeface="Lora"/>
                <a:sym typeface="Lora"/>
              </a:rPr>
              <a:t>Again, if you want to check reading or calibrate with Standard Solution, select KHP / Kaolin as Calibration Solution in SETTINGS &gt; CONFIG &gt; COD / TSS </a:t>
            </a:r>
            <a:endParaRPr>
              <a:latin typeface="Lora"/>
              <a:ea typeface="Lora"/>
              <a:cs typeface="Lora"/>
              <a:sym typeface="Lora"/>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5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Clr>
                <a:schemeClr val="dk1"/>
              </a:buClr>
              <a:buSzPct val="28947"/>
              <a:buFont typeface="Arial"/>
              <a:buNone/>
            </a:pPr>
            <a:r>
              <a:rPr b="1" lang="en-US" sz="3420">
                <a:solidFill>
                  <a:srgbClr val="245599"/>
                </a:solidFill>
                <a:latin typeface="Lora"/>
                <a:ea typeface="Lora"/>
                <a:cs typeface="Lora"/>
                <a:sym typeface="Lora"/>
              </a:rPr>
              <a:t>TSS Configuration Screen</a:t>
            </a:r>
            <a:endParaRPr b="1" sz="3420">
              <a:latin typeface="Lora"/>
              <a:ea typeface="Lora"/>
              <a:cs typeface="Lora"/>
              <a:sym typeface="Lora"/>
            </a:endParaRPr>
          </a:p>
          <a:p>
            <a:pPr indent="0" lvl="0" marL="0" rtl="0" algn="l">
              <a:lnSpc>
                <a:spcPct val="100000"/>
              </a:lnSpc>
              <a:spcBef>
                <a:spcPts val="0"/>
              </a:spcBef>
              <a:spcAft>
                <a:spcPts val="0"/>
              </a:spcAft>
              <a:buSzPct val="111111"/>
              <a:buNone/>
            </a:pPr>
            <a:r>
              <a:t/>
            </a:r>
            <a:endParaRPr/>
          </a:p>
        </p:txBody>
      </p:sp>
      <p:pic>
        <p:nvPicPr>
          <p:cNvPr id="386" name="Google Shape;386;p53"/>
          <p:cNvPicPr preferRelativeResize="0"/>
          <p:nvPr/>
        </p:nvPicPr>
        <p:blipFill rotWithShape="1">
          <a:blip r:embed="rId3">
            <a:alphaModFix/>
          </a:blip>
          <a:srcRect b="0" l="0" r="0" t="0"/>
          <a:stretch/>
        </p:blipFill>
        <p:spPr>
          <a:xfrm>
            <a:off x="1378525" y="1239475"/>
            <a:ext cx="6386944" cy="38209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